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77" r:id="rId5"/>
    <p:sldMasterId id="2147483697" r:id="rId6"/>
  </p:sldMasterIdLst>
  <p:notesMasterIdLst>
    <p:notesMasterId r:id="rId40"/>
  </p:notesMasterIdLst>
  <p:handoutMasterIdLst>
    <p:handoutMasterId r:id="rId41"/>
  </p:handoutMasterIdLst>
  <p:sldIdLst>
    <p:sldId id="292" r:id="rId7"/>
    <p:sldId id="262" r:id="rId8"/>
    <p:sldId id="2076138898" r:id="rId9"/>
    <p:sldId id="2076138899" r:id="rId10"/>
    <p:sldId id="2076138901" r:id="rId11"/>
    <p:sldId id="2076138902" r:id="rId12"/>
    <p:sldId id="2076138903" r:id="rId13"/>
    <p:sldId id="2076138904" r:id="rId14"/>
    <p:sldId id="2076138905" r:id="rId15"/>
    <p:sldId id="2076138906" r:id="rId16"/>
    <p:sldId id="2076138907" r:id="rId17"/>
    <p:sldId id="2076138929" r:id="rId18"/>
    <p:sldId id="2076138908" r:id="rId19"/>
    <p:sldId id="2076138927" r:id="rId20"/>
    <p:sldId id="2076138928" r:id="rId21"/>
    <p:sldId id="2076138909" r:id="rId22"/>
    <p:sldId id="2076138910" r:id="rId23"/>
    <p:sldId id="2076138911" r:id="rId24"/>
    <p:sldId id="2076138912" r:id="rId25"/>
    <p:sldId id="2076138913" r:id="rId26"/>
    <p:sldId id="2076138914" r:id="rId27"/>
    <p:sldId id="2076138915" r:id="rId28"/>
    <p:sldId id="2076138924" r:id="rId29"/>
    <p:sldId id="2076138916" r:id="rId30"/>
    <p:sldId id="2076138917" r:id="rId31"/>
    <p:sldId id="2076138918" r:id="rId32"/>
    <p:sldId id="2076138919" r:id="rId33"/>
    <p:sldId id="2076138920" r:id="rId34"/>
    <p:sldId id="2076138921" r:id="rId35"/>
    <p:sldId id="2076138922" r:id="rId36"/>
    <p:sldId id="2076138923" r:id="rId37"/>
    <p:sldId id="2076138930" r:id="rId38"/>
    <p:sldId id="2076138892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Abu" initials="DA" lastIdx="2" clrIdx="0">
    <p:extLst>
      <p:ext uri="{19B8F6BF-5375-455C-9EA6-DF929625EA0E}">
        <p15:presenceInfo xmlns:p15="http://schemas.microsoft.com/office/powerpoint/2012/main" userId="S::dabu@dbrownconsulting.net::b1398c58-f422-4def-84b3-590928c5faf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8"/>
    <a:srgbClr val="660033"/>
    <a:srgbClr val="99958F"/>
    <a:srgbClr val="FCFFF8"/>
    <a:srgbClr val="FBFEF7"/>
    <a:srgbClr val="B9AE6E"/>
    <a:srgbClr val="6C894E"/>
    <a:srgbClr val="B39F6F"/>
    <a:srgbClr val="A1895E"/>
    <a:srgbClr val="263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123" d="100"/>
          <a:sy n="123" d="100"/>
        </p:scale>
        <p:origin x="114" y="32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604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commentAuthors" Target="commentAuthors.xml"/><Relationship Id="rId47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96D5CE-2F73-4C41-9376-BC6AE5C0061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43823B5-C95C-48FA-B008-32082B807A5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Franklin Gothic Demi" panose="020B0703020102020204" pitchFamily="34" charset="0"/>
            </a:rPr>
            <a:t>Punctuality</a:t>
          </a:r>
          <a:endParaRPr lang="en-US">
            <a:latin typeface="Franklin Gothic Demi" panose="020B0703020102020204" pitchFamily="34" charset="0"/>
          </a:endParaRPr>
        </a:p>
      </dgm:t>
    </dgm:pt>
    <dgm:pt modelId="{046D1532-E12C-400E-BDEE-96EF8C2ED068}" type="parTrans" cxnId="{213F232F-6664-42A8-9DA1-5CB2C3E1F69E}">
      <dgm:prSet/>
      <dgm:spPr/>
      <dgm:t>
        <a:bodyPr/>
        <a:lstStyle/>
        <a:p>
          <a:endParaRPr lang="en-US">
            <a:latin typeface="Franklin Gothic Demi" panose="020B0703020102020204" pitchFamily="34" charset="0"/>
          </a:endParaRPr>
        </a:p>
      </dgm:t>
    </dgm:pt>
    <dgm:pt modelId="{A7A00F24-0482-46CF-93D2-67787B0E5E29}" type="sibTrans" cxnId="{213F232F-6664-42A8-9DA1-5CB2C3E1F69E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Franklin Gothic Demi" panose="020B0703020102020204" pitchFamily="34" charset="0"/>
          </a:endParaRPr>
        </a:p>
      </dgm:t>
    </dgm:pt>
    <dgm:pt modelId="{E3C99EB8-3A7B-43F3-A092-5B3B1377B3D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Franklin Gothic Demi" panose="020B0703020102020204" pitchFamily="34" charset="0"/>
            </a:rPr>
            <a:t>Have an </a:t>
          </a:r>
        </a:p>
        <a:p>
          <a:pPr>
            <a:lnSpc>
              <a:spcPct val="100000"/>
            </a:lnSpc>
          </a:pPr>
          <a:r>
            <a:rPr lang="en-GB">
              <a:latin typeface="Franklin Gothic Demi" panose="020B0703020102020204" pitchFamily="34" charset="0"/>
            </a:rPr>
            <a:t>Open Mind</a:t>
          </a:r>
          <a:endParaRPr lang="en-US">
            <a:latin typeface="Franklin Gothic Demi" panose="020B0703020102020204" pitchFamily="34" charset="0"/>
          </a:endParaRPr>
        </a:p>
      </dgm:t>
    </dgm:pt>
    <dgm:pt modelId="{29DFF4C6-1085-41A0-BDEA-DBFBCF62FCA4}" type="parTrans" cxnId="{23E379EA-E357-496B-AFAD-EAA7EFD93043}">
      <dgm:prSet/>
      <dgm:spPr/>
      <dgm:t>
        <a:bodyPr/>
        <a:lstStyle/>
        <a:p>
          <a:endParaRPr lang="en-US">
            <a:latin typeface="Franklin Gothic Demi" panose="020B0703020102020204" pitchFamily="34" charset="0"/>
          </a:endParaRPr>
        </a:p>
      </dgm:t>
    </dgm:pt>
    <dgm:pt modelId="{96C91BFF-B351-4424-9FEE-B31D6CF3A6C7}" type="sibTrans" cxnId="{23E379EA-E357-496B-AFAD-EAA7EFD93043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Franklin Gothic Demi" panose="020B0703020102020204" pitchFamily="34" charset="0"/>
          </a:endParaRPr>
        </a:p>
      </dgm:t>
    </dgm:pt>
    <dgm:pt modelId="{F8EBDEF1-A66E-45D6-B4E2-86277E3AEB4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Franklin Gothic Demi" panose="020B0703020102020204" pitchFamily="34" charset="0"/>
            </a:rPr>
            <a:t>One Class</a:t>
          </a:r>
          <a:endParaRPr lang="en-US">
            <a:latin typeface="Franklin Gothic Demi" panose="020B0703020102020204" pitchFamily="34" charset="0"/>
          </a:endParaRPr>
        </a:p>
      </dgm:t>
    </dgm:pt>
    <dgm:pt modelId="{2306A01D-F858-4005-AAD6-AC141AA99368}" type="parTrans" cxnId="{1583FCEE-ABB9-4659-8D0C-FBFCD55F9A99}">
      <dgm:prSet/>
      <dgm:spPr/>
      <dgm:t>
        <a:bodyPr/>
        <a:lstStyle/>
        <a:p>
          <a:endParaRPr lang="en-US">
            <a:latin typeface="Franklin Gothic Demi" panose="020B0703020102020204" pitchFamily="34" charset="0"/>
          </a:endParaRPr>
        </a:p>
      </dgm:t>
    </dgm:pt>
    <dgm:pt modelId="{D1E41D32-9001-4AC2-B0C6-F8A718D3D825}" type="sibTrans" cxnId="{1583FCEE-ABB9-4659-8D0C-FBFCD55F9A99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Franklin Gothic Demi" panose="020B0703020102020204" pitchFamily="34" charset="0"/>
          </a:endParaRPr>
        </a:p>
      </dgm:t>
    </dgm:pt>
    <dgm:pt modelId="{BAAEBB75-F9B6-4B36-8CC3-0118AC37378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Franklin Gothic Demi" panose="020B0703020102020204" pitchFamily="34" charset="0"/>
            </a:rPr>
            <a:t>Participation</a:t>
          </a:r>
          <a:endParaRPr lang="en-US">
            <a:latin typeface="Franklin Gothic Demi" panose="020B0703020102020204" pitchFamily="34" charset="0"/>
          </a:endParaRPr>
        </a:p>
      </dgm:t>
    </dgm:pt>
    <dgm:pt modelId="{293B71E8-AF5B-4932-8192-54B98EDA3813}" type="parTrans" cxnId="{C92863DD-4865-411A-B2F1-A5970EBD97AB}">
      <dgm:prSet/>
      <dgm:spPr/>
      <dgm:t>
        <a:bodyPr/>
        <a:lstStyle/>
        <a:p>
          <a:endParaRPr lang="en-US">
            <a:latin typeface="Franklin Gothic Demi" panose="020B0703020102020204" pitchFamily="34" charset="0"/>
          </a:endParaRPr>
        </a:p>
      </dgm:t>
    </dgm:pt>
    <dgm:pt modelId="{8A1D4D23-0933-4FEE-9CBC-03E04E54FB5D}" type="sibTrans" cxnId="{C92863DD-4865-411A-B2F1-A5970EBD97AB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Franklin Gothic Demi" panose="020B0703020102020204" pitchFamily="34" charset="0"/>
          </a:endParaRPr>
        </a:p>
      </dgm:t>
    </dgm:pt>
    <dgm:pt modelId="{758B5389-30FE-473D-B82B-DB8EDD2C690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Franklin Gothic Demi" panose="020B0703020102020204" pitchFamily="34" charset="0"/>
            </a:rPr>
            <a:t>Ask Questions</a:t>
          </a:r>
          <a:endParaRPr lang="en-US" dirty="0">
            <a:latin typeface="Franklin Gothic Demi" panose="020B0703020102020204" pitchFamily="34" charset="0"/>
          </a:endParaRPr>
        </a:p>
      </dgm:t>
    </dgm:pt>
    <dgm:pt modelId="{70651F55-4344-42AC-860C-A29E8478972A}" type="parTrans" cxnId="{D97EA8D8-9AA1-444C-BDC1-47CF646396C1}">
      <dgm:prSet/>
      <dgm:spPr/>
      <dgm:t>
        <a:bodyPr/>
        <a:lstStyle/>
        <a:p>
          <a:endParaRPr lang="en-US">
            <a:latin typeface="Franklin Gothic Demi" panose="020B0703020102020204" pitchFamily="34" charset="0"/>
          </a:endParaRPr>
        </a:p>
      </dgm:t>
    </dgm:pt>
    <dgm:pt modelId="{572B74E3-1BC9-4EEF-AF06-49D85C165D52}" type="sibTrans" cxnId="{D97EA8D8-9AA1-444C-BDC1-47CF646396C1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Franklin Gothic Demi" panose="020B0703020102020204" pitchFamily="34" charset="0"/>
          </a:endParaRPr>
        </a:p>
      </dgm:t>
    </dgm:pt>
    <dgm:pt modelId="{92918FF0-18CC-457A-ADA5-2FBA9A2226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Franklin Gothic Demi" panose="020B0703020102020204" pitchFamily="34" charset="0"/>
            </a:rPr>
            <a:t>Respect</a:t>
          </a:r>
        </a:p>
      </dgm:t>
    </dgm:pt>
    <dgm:pt modelId="{788BE146-9F6E-49F1-AA6E-6AE910C14FDB}" type="sibTrans" cxnId="{0DCF5150-1630-4ECF-B89B-78853AED0081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Franklin Gothic Demi" panose="020B0703020102020204" pitchFamily="34" charset="0"/>
          </a:endParaRPr>
        </a:p>
      </dgm:t>
    </dgm:pt>
    <dgm:pt modelId="{F80F284A-2197-4C10-B7E3-C935D797505C}" type="parTrans" cxnId="{0DCF5150-1630-4ECF-B89B-78853AED0081}">
      <dgm:prSet/>
      <dgm:spPr/>
      <dgm:t>
        <a:bodyPr/>
        <a:lstStyle/>
        <a:p>
          <a:endParaRPr lang="en-US">
            <a:latin typeface="Franklin Gothic Demi" panose="020B0703020102020204" pitchFamily="34" charset="0"/>
          </a:endParaRPr>
        </a:p>
      </dgm:t>
    </dgm:pt>
    <dgm:pt modelId="{F9D0F626-A044-4409-A5A6-15C72E7421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Franklin Gothic Demi" panose="020B0703020102020204" pitchFamily="34" charset="0"/>
            </a:rPr>
            <a:t>Mute your mic always</a:t>
          </a:r>
          <a:endParaRPr lang="en-US" dirty="0">
            <a:latin typeface="Franklin Gothic Demi" panose="020B0703020102020204" pitchFamily="34" charset="0"/>
          </a:endParaRPr>
        </a:p>
      </dgm:t>
    </dgm:pt>
    <dgm:pt modelId="{E4C79108-03D9-43DA-A399-D805993D1BF5}" type="parTrans" cxnId="{C6ED48E7-72DE-4578-8828-094D920BF51B}">
      <dgm:prSet/>
      <dgm:spPr/>
      <dgm:t>
        <a:bodyPr/>
        <a:lstStyle/>
        <a:p>
          <a:endParaRPr lang="en-US"/>
        </a:p>
      </dgm:t>
    </dgm:pt>
    <dgm:pt modelId="{B8C6A187-5548-4861-A2E0-70E2BF57F896}" type="sibTrans" cxnId="{C6ED48E7-72DE-4578-8828-094D920BF51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E57EEC-8876-4BE7-8BE6-699619FA8D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Franklin Gothic Demi" panose="020B0703020102020204" pitchFamily="34" charset="0"/>
            </a:rPr>
            <a:t>Raise your hand before you speak</a:t>
          </a:r>
        </a:p>
      </dgm:t>
    </dgm:pt>
    <dgm:pt modelId="{856555D7-65B3-4559-B92A-E3EAC8FEEB8A}" type="parTrans" cxnId="{7EB5D2A6-A854-4B33-A49E-00BDA8816732}">
      <dgm:prSet/>
      <dgm:spPr/>
      <dgm:t>
        <a:bodyPr/>
        <a:lstStyle/>
        <a:p>
          <a:endParaRPr lang="en-US"/>
        </a:p>
      </dgm:t>
    </dgm:pt>
    <dgm:pt modelId="{FB218E93-179E-4996-AD74-0CD10485FAA2}" type="sibTrans" cxnId="{7EB5D2A6-A854-4B33-A49E-00BDA8816732}">
      <dgm:prSet/>
      <dgm:spPr/>
      <dgm:t>
        <a:bodyPr/>
        <a:lstStyle/>
        <a:p>
          <a:endParaRPr lang="en-US"/>
        </a:p>
      </dgm:t>
    </dgm:pt>
    <dgm:pt modelId="{134D5F3C-E2D9-482E-B5F8-5BD41B2BDC74}" type="pres">
      <dgm:prSet presAssocID="{B596D5CE-2F73-4C41-9376-BC6AE5C00619}" presName="root" presStyleCnt="0">
        <dgm:presLayoutVars>
          <dgm:dir/>
          <dgm:resizeHandles val="exact"/>
        </dgm:presLayoutVars>
      </dgm:prSet>
      <dgm:spPr/>
    </dgm:pt>
    <dgm:pt modelId="{D0D2A348-9511-4ADB-98EE-C94C6FB1A4DE}" type="pres">
      <dgm:prSet presAssocID="{B596D5CE-2F73-4C41-9376-BC6AE5C00619}" presName="container" presStyleCnt="0">
        <dgm:presLayoutVars>
          <dgm:dir/>
          <dgm:resizeHandles val="exact"/>
        </dgm:presLayoutVars>
      </dgm:prSet>
      <dgm:spPr/>
    </dgm:pt>
    <dgm:pt modelId="{7593BD78-90CC-4538-9887-79A832410254}" type="pres">
      <dgm:prSet presAssocID="{743823B5-C95C-48FA-B008-32082B807A59}" presName="compNode" presStyleCnt="0"/>
      <dgm:spPr/>
    </dgm:pt>
    <dgm:pt modelId="{BC56D30A-CA53-4B94-AA4A-7D18D4617BCE}" type="pres">
      <dgm:prSet presAssocID="{743823B5-C95C-48FA-B008-32082B807A59}" presName="iconBgRect" presStyleLbl="bgShp" presStyleIdx="0" presStyleCnt="8"/>
      <dgm:spPr/>
    </dgm:pt>
    <dgm:pt modelId="{4C751EE6-ABF3-427D-89AB-F3D5EDDA9F7F}" type="pres">
      <dgm:prSet presAssocID="{743823B5-C95C-48FA-B008-32082B807A59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08E3394F-553E-41EC-945B-889B33E0B831}" type="pres">
      <dgm:prSet presAssocID="{743823B5-C95C-48FA-B008-32082B807A59}" presName="spaceRect" presStyleCnt="0"/>
      <dgm:spPr/>
    </dgm:pt>
    <dgm:pt modelId="{1185A087-46F1-4E90-802B-329AFDF69500}" type="pres">
      <dgm:prSet presAssocID="{743823B5-C95C-48FA-B008-32082B807A59}" presName="textRect" presStyleLbl="revTx" presStyleIdx="0" presStyleCnt="8">
        <dgm:presLayoutVars>
          <dgm:chMax val="1"/>
          <dgm:chPref val="1"/>
        </dgm:presLayoutVars>
      </dgm:prSet>
      <dgm:spPr/>
    </dgm:pt>
    <dgm:pt modelId="{7337A2E3-CFF2-412C-A54A-CE87EF3C2BDB}" type="pres">
      <dgm:prSet presAssocID="{A7A00F24-0482-46CF-93D2-67787B0E5E29}" presName="sibTrans" presStyleLbl="sibTrans2D1" presStyleIdx="0" presStyleCnt="0"/>
      <dgm:spPr/>
    </dgm:pt>
    <dgm:pt modelId="{55B8E52D-A2F2-46F7-BB7D-6CB1C7E50CDB}" type="pres">
      <dgm:prSet presAssocID="{E3C99EB8-3A7B-43F3-A092-5B3B1377B3DF}" presName="compNode" presStyleCnt="0"/>
      <dgm:spPr/>
    </dgm:pt>
    <dgm:pt modelId="{8172B59F-76C1-4A27-B3EF-7D60BE6F08CA}" type="pres">
      <dgm:prSet presAssocID="{E3C99EB8-3A7B-43F3-A092-5B3B1377B3DF}" presName="iconBgRect" presStyleLbl="bgShp" presStyleIdx="1" presStyleCnt="8"/>
      <dgm:spPr/>
    </dgm:pt>
    <dgm:pt modelId="{0B5F5CAE-2BB4-4463-8F4E-1C4453F8E509}" type="pres">
      <dgm:prSet presAssocID="{E3C99EB8-3A7B-43F3-A092-5B3B1377B3DF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32B1B2E-ABD5-4423-8485-71CD9839407D}" type="pres">
      <dgm:prSet presAssocID="{E3C99EB8-3A7B-43F3-A092-5B3B1377B3DF}" presName="spaceRect" presStyleCnt="0"/>
      <dgm:spPr/>
    </dgm:pt>
    <dgm:pt modelId="{6AC71E27-7C24-4EFE-A71B-CF57D444D0B7}" type="pres">
      <dgm:prSet presAssocID="{E3C99EB8-3A7B-43F3-A092-5B3B1377B3DF}" presName="textRect" presStyleLbl="revTx" presStyleIdx="1" presStyleCnt="8">
        <dgm:presLayoutVars>
          <dgm:chMax val="1"/>
          <dgm:chPref val="1"/>
        </dgm:presLayoutVars>
      </dgm:prSet>
      <dgm:spPr/>
    </dgm:pt>
    <dgm:pt modelId="{7C1E09A4-9688-4423-A6AD-0ECFDCC64466}" type="pres">
      <dgm:prSet presAssocID="{96C91BFF-B351-4424-9FEE-B31D6CF3A6C7}" presName="sibTrans" presStyleLbl="sibTrans2D1" presStyleIdx="0" presStyleCnt="0"/>
      <dgm:spPr/>
    </dgm:pt>
    <dgm:pt modelId="{6519C15C-0ACF-4764-8A0E-025BECAB7EE5}" type="pres">
      <dgm:prSet presAssocID="{F8EBDEF1-A66E-45D6-B4E2-86277E3AEB40}" presName="compNode" presStyleCnt="0"/>
      <dgm:spPr/>
    </dgm:pt>
    <dgm:pt modelId="{7F5088C7-A7E0-48E2-8895-A3F03F622854}" type="pres">
      <dgm:prSet presAssocID="{F8EBDEF1-A66E-45D6-B4E2-86277E3AEB40}" presName="iconBgRect" presStyleLbl="bgShp" presStyleIdx="2" presStyleCnt="8"/>
      <dgm:spPr/>
    </dgm:pt>
    <dgm:pt modelId="{DBDBF874-B63E-433F-BF32-27A6E0CA2FFA}" type="pres">
      <dgm:prSet presAssocID="{F8EBDEF1-A66E-45D6-B4E2-86277E3AEB40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9920FA4-9EA2-4C10-B16C-7546473211B8}" type="pres">
      <dgm:prSet presAssocID="{F8EBDEF1-A66E-45D6-B4E2-86277E3AEB40}" presName="spaceRect" presStyleCnt="0"/>
      <dgm:spPr/>
    </dgm:pt>
    <dgm:pt modelId="{DF2BB7CB-22C7-4543-BF93-A9CAD175B857}" type="pres">
      <dgm:prSet presAssocID="{F8EBDEF1-A66E-45D6-B4E2-86277E3AEB40}" presName="textRect" presStyleLbl="revTx" presStyleIdx="2" presStyleCnt="8">
        <dgm:presLayoutVars>
          <dgm:chMax val="1"/>
          <dgm:chPref val="1"/>
        </dgm:presLayoutVars>
      </dgm:prSet>
      <dgm:spPr/>
    </dgm:pt>
    <dgm:pt modelId="{0A96B241-36FB-44FD-8206-6447FBEA6E02}" type="pres">
      <dgm:prSet presAssocID="{D1E41D32-9001-4AC2-B0C6-F8A718D3D825}" presName="sibTrans" presStyleLbl="sibTrans2D1" presStyleIdx="0" presStyleCnt="0"/>
      <dgm:spPr/>
    </dgm:pt>
    <dgm:pt modelId="{A829490A-A57E-4320-BEA1-18EBA64707B4}" type="pres">
      <dgm:prSet presAssocID="{BAAEBB75-F9B6-4B36-8CC3-0118AC373780}" presName="compNode" presStyleCnt="0"/>
      <dgm:spPr/>
    </dgm:pt>
    <dgm:pt modelId="{3324B3EC-F61C-43F2-A025-1014DF8B910D}" type="pres">
      <dgm:prSet presAssocID="{BAAEBB75-F9B6-4B36-8CC3-0118AC373780}" presName="iconBgRect" presStyleLbl="bgShp" presStyleIdx="3" presStyleCnt="8"/>
      <dgm:spPr/>
    </dgm:pt>
    <dgm:pt modelId="{A9729E85-B86D-49FD-AA16-A22949FBCB96}" type="pres">
      <dgm:prSet presAssocID="{BAAEBB75-F9B6-4B36-8CC3-0118AC373780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8531642-81FB-4C94-8D70-A606A4C130E3}" type="pres">
      <dgm:prSet presAssocID="{BAAEBB75-F9B6-4B36-8CC3-0118AC373780}" presName="spaceRect" presStyleCnt="0"/>
      <dgm:spPr/>
    </dgm:pt>
    <dgm:pt modelId="{6B4894AA-58A2-4A80-8EFF-84CD1842F708}" type="pres">
      <dgm:prSet presAssocID="{BAAEBB75-F9B6-4B36-8CC3-0118AC373780}" presName="textRect" presStyleLbl="revTx" presStyleIdx="3" presStyleCnt="8">
        <dgm:presLayoutVars>
          <dgm:chMax val="1"/>
          <dgm:chPref val="1"/>
        </dgm:presLayoutVars>
      </dgm:prSet>
      <dgm:spPr/>
    </dgm:pt>
    <dgm:pt modelId="{4996A909-17A8-49BF-B963-24DE8F76AEFC}" type="pres">
      <dgm:prSet presAssocID="{8A1D4D23-0933-4FEE-9CBC-03E04E54FB5D}" presName="sibTrans" presStyleLbl="sibTrans2D1" presStyleIdx="0" presStyleCnt="0"/>
      <dgm:spPr/>
    </dgm:pt>
    <dgm:pt modelId="{82884AEB-E7A9-47A2-B719-6AD42936ED54}" type="pres">
      <dgm:prSet presAssocID="{92918FF0-18CC-457A-ADA5-2FBA9A222666}" presName="compNode" presStyleCnt="0"/>
      <dgm:spPr/>
    </dgm:pt>
    <dgm:pt modelId="{B9639417-11BF-4A51-A232-4BBA5DCBEB49}" type="pres">
      <dgm:prSet presAssocID="{92918FF0-18CC-457A-ADA5-2FBA9A222666}" presName="iconBgRect" presStyleLbl="bgShp" presStyleIdx="4" presStyleCnt="8"/>
      <dgm:spPr/>
    </dgm:pt>
    <dgm:pt modelId="{ADA23323-B240-4245-9D6F-0723A515E9F1}" type="pres">
      <dgm:prSet presAssocID="{92918FF0-18CC-457A-ADA5-2FBA9A222666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ECF62DE-0F8B-4893-B8ED-23C623D50668}" type="pres">
      <dgm:prSet presAssocID="{92918FF0-18CC-457A-ADA5-2FBA9A222666}" presName="spaceRect" presStyleCnt="0"/>
      <dgm:spPr/>
    </dgm:pt>
    <dgm:pt modelId="{9D2A773A-0508-409F-95F5-2301AEA38AD7}" type="pres">
      <dgm:prSet presAssocID="{92918FF0-18CC-457A-ADA5-2FBA9A222666}" presName="textRect" presStyleLbl="revTx" presStyleIdx="4" presStyleCnt="8">
        <dgm:presLayoutVars>
          <dgm:chMax val="1"/>
          <dgm:chPref val="1"/>
        </dgm:presLayoutVars>
      </dgm:prSet>
      <dgm:spPr/>
    </dgm:pt>
    <dgm:pt modelId="{CDC3243F-4A06-47CB-A60D-B24C10F76348}" type="pres">
      <dgm:prSet presAssocID="{788BE146-9F6E-49F1-AA6E-6AE910C14FDB}" presName="sibTrans" presStyleLbl="sibTrans2D1" presStyleIdx="0" presStyleCnt="0"/>
      <dgm:spPr/>
    </dgm:pt>
    <dgm:pt modelId="{6A25F9A5-160F-454D-B08E-236ED69A62C1}" type="pres">
      <dgm:prSet presAssocID="{758B5389-30FE-473D-B82B-DB8EDD2C6903}" presName="compNode" presStyleCnt="0"/>
      <dgm:spPr/>
    </dgm:pt>
    <dgm:pt modelId="{7A627A47-6D2A-468E-A5A5-6554B46856F3}" type="pres">
      <dgm:prSet presAssocID="{758B5389-30FE-473D-B82B-DB8EDD2C6903}" presName="iconBgRect" presStyleLbl="bgShp" presStyleIdx="5" presStyleCnt="8"/>
      <dgm:spPr/>
    </dgm:pt>
    <dgm:pt modelId="{5340BABE-DC18-4BE7-A7D1-6A81787BBEFD}" type="pres">
      <dgm:prSet presAssocID="{758B5389-30FE-473D-B82B-DB8EDD2C6903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E57E88FA-2E47-4F6C-B26B-5B3D73D7A010}" type="pres">
      <dgm:prSet presAssocID="{758B5389-30FE-473D-B82B-DB8EDD2C6903}" presName="spaceRect" presStyleCnt="0"/>
      <dgm:spPr/>
    </dgm:pt>
    <dgm:pt modelId="{5C3DE797-6FB7-482D-8C63-AA201F870CC9}" type="pres">
      <dgm:prSet presAssocID="{758B5389-30FE-473D-B82B-DB8EDD2C6903}" presName="textRect" presStyleLbl="revTx" presStyleIdx="5" presStyleCnt="8">
        <dgm:presLayoutVars>
          <dgm:chMax val="1"/>
          <dgm:chPref val="1"/>
        </dgm:presLayoutVars>
      </dgm:prSet>
      <dgm:spPr/>
    </dgm:pt>
    <dgm:pt modelId="{4D79A334-C640-4449-8E5C-4E6FEC1A0504}" type="pres">
      <dgm:prSet presAssocID="{572B74E3-1BC9-4EEF-AF06-49D85C165D52}" presName="sibTrans" presStyleLbl="sibTrans2D1" presStyleIdx="0" presStyleCnt="0"/>
      <dgm:spPr/>
    </dgm:pt>
    <dgm:pt modelId="{74670A55-04D6-4E08-813E-C90CCCE23235}" type="pres">
      <dgm:prSet presAssocID="{F9D0F626-A044-4409-A5A6-15C72E742194}" presName="compNode" presStyleCnt="0"/>
      <dgm:spPr/>
    </dgm:pt>
    <dgm:pt modelId="{6BAF470D-5AE7-4300-B390-8EFD1EC52DBD}" type="pres">
      <dgm:prSet presAssocID="{F9D0F626-A044-4409-A5A6-15C72E742194}" presName="iconBgRect" presStyleLbl="bgShp" presStyleIdx="6" presStyleCnt="8"/>
      <dgm:spPr/>
    </dgm:pt>
    <dgm:pt modelId="{769F7012-9C0C-46FA-B653-785556523A91}" type="pres">
      <dgm:prSet presAssocID="{F9D0F626-A044-4409-A5A6-15C72E742194}" presName="iconRect" presStyleLbl="node1" presStyleIdx="6" presStyleCnt="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 microphone with solid fill"/>
        </a:ext>
      </dgm:extLst>
    </dgm:pt>
    <dgm:pt modelId="{0A192B15-A15A-4208-99A8-3676AB548D66}" type="pres">
      <dgm:prSet presAssocID="{F9D0F626-A044-4409-A5A6-15C72E742194}" presName="spaceRect" presStyleCnt="0"/>
      <dgm:spPr/>
    </dgm:pt>
    <dgm:pt modelId="{FBAFD05B-19BF-422E-A330-33DC2555DA0C}" type="pres">
      <dgm:prSet presAssocID="{F9D0F626-A044-4409-A5A6-15C72E742194}" presName="textRect" presStyleLbl="revTx" presStyleIdx="6" presStyleCnt="8">
        <dgm:presLayoutVars>
          <dgm:chMax val="1"/>
          <dgm:chPref val="1"/>
        </dgm:presLayoutVars>
      </dgm:prSet>
      <dgm:spPr/>
    </dgm:pt>
    <dgm:pt modelId="{7A531CA6-CF1A-4966-A590-83A20D42E95B}" type="pres">
      <dgm:prSet presAssocID="{B8C6A187-5548-4861-A2E0-70E2BF57F896}" presName="sibTrans" presStyleLbl="sibTrans2D1" presStyleIdx="0" presStyleCnt="0"/>
      <dgm:spPr/>
    </dgm:pt>
    <dgm:pt modelId="{F4C71925-97AF-4C1B-8609-8C6DFCC2B6B7}" type="pres">
      <dgm:prSet presAssocID="{25E57EEC-8876-4BE7-8BE6-699619FA8D27}" presName="compNode" presStyleCnt="0"/>
      <dgm:spPr/>
    </dgm:pt>
    <dgm:pt modelId="{13755551-A38B-4901-A89D-181678CEF4C7}" type="pres">
      <dgm:prSet presAssocID="{25E57EEC-8876-4BE7-8BE6-699619FA8D27}" presName="iconBgRect" presStyleLbl="bgShp" presStyleIdx="7" presStyleCnt="8"/>
      <dgm:spPr/>
    </dgm:pt>
    <dgm:pt modelId="{EBE41381-8499-4C77-867B-2E95A7CF0A0D}" type="pres">
      <dgm:prSet presAssocID="{25E57EEC-8876-4BE7-8BE6-699619FA8D27}" presName="iconRect" presStyleLbl="node1" presStyleIdx="7" presStyleCnt="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solidFill>
            <a:schemeClr val="tx1">
              <a:alpha val="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Raised hand with solid fill"/>
        </a:ext>
      </dgm:extLst>
    </dgm:pt>
    <dgm:pt modelId="{E4C27F26-8D06-499D-8F58-A2DB0B62C53B}" type="pres">
      <dgm:prSet presAssocID="{25E57EEC-8876-4BE7-8BE6-699619FA8D27}" presName="spaceRect" presStyleCnt="0"/>
      <dgm:spPr/>
    </dgm:pt>
    <dgm:pt modelId="{36A59493-DB72-4C83-8664-0C680C67BCA2}" type="pres">
      <dgm:prSet presAssocID="{25E57EEC-8876-4BE7-8BE6-699619FA8D27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61894C22-12C7-486D-9295-94CEB5EC74DD}" type="presOf" srcId="{25E57EEC-8876-4BE7-8BE6-699619FA8D27}" destId="{36A59493-DB72-4C83-8664-0C680C67BCA2}" srcOrd="0" destOrd="0" presId="urn:microsoft.com/office/officeart/2018/2/layout/IconCircleList"/>
    <dgm:cxn modelId="{213F232F-6664-42A8-9DA1-5CB2C3E1F69E}" srcId="{B596D5CE-2F73-4C41-9376-BC6AE5C00619}" destId="{743823B5-C95C-48FA-B008-32082B807A59}" srcOrd="0" destOrd="0" parTransId="{046D1532-E12C-400E-BDEE-96EF8C2ED068}" sibTransId="{A7A00F24-0482-46CF-93D2-67787B0E5E29}"/>
    <dgm:cxn modelId="{99E03F30-ABCE-4209-AD7C-371F29276653}" type="presOf" srcId="{B8C6A187-5548-4861-A2E0-70E2BF57F896}" destId="{7A531CA6-CF1A-4966-A590-83A20D42E95B}" srcOrd="0" destOrd="0" presId="urn:microsoft.com/office/officeart/2018/2/layout/IconCircleList"/>
    <dgm:cxn modelId="{C6889A35-9CC7-4010-B54C-D4C6BCFC2F35}" type="presOf" srcId="{A7A00F24-0482-46CF-93D2-67787B0E5E29}" destId="{7337A2E3-CFF2-412C-A54A-CE87EF3C2BDB}" srcOrd="0" destOrd="0" presId="urn:microsoft.com/office/officeart/2018/2/layout/IconCircleList"/>
    <dgm:cxn modelId="{0F09DC40-56DA-4784-9185-44325548CDEF}" type="presOf" srcId="{743823B5-C95C-48FA-B008-32082B807A59}" destId="{1185A087-46F1-4E90-802B-329AFDF69500}" srcOrd="0" destOrd="0" presId="urn:microsoft.com/office/officeart/2018/2/layout/IconCircleList"/>
    <dgm:cxn modelId="{B1501344-C3BF-4864-BB8F-3CB03CAF31DA}" type="presOf" srcId="{788BE146-9F6E-49F1-AA6E-6AE910C14FDB}" destId="{CDC3243F-4A06-47CB-A60D-B24C10F76348}" srcOrd="0" destOrd="0" presId="urn:microsoft.com/office/officeart/2018/2/layout/IconCircleList"/>
    <dgm:cxn modelId="{0DCF5150-1630-4ECF-B89B-78853AED0081}" srcId="{B596D5CE-2F73-4C41-9376-BC6AE5C00619}" destId="{92918FF0-18CC-457A-ADA5-2FBA9A222666}" srcOrd="4" destOrd="0" parTransId="{F80F284A-2197-4C10-B7E3-C935D797505C}" sibTransId="{788BE146-9F6E-49F1-AA6E-6AE910C14FDB}"/>
    <dgm:cxn modelId="{884F2151-4149-41AF-BD48-FA9BADC8114B}" type="presOf" srcId="{F9D0F626-A044-4409-A5A6-15C72E742194}" destId="{FBAFD05B-19BF-422E-A330-33DC2555DA0C}" srcOrd="0" destOrd="0" presId="urn:microsoft.com/office/officeart/2018/2/layout/IconCircleList"/>
    <dgm:cxn modelId="{93631972-83EB-48AC-8B8E-915C9ACE49FF}" type="presOf" srcId="{96C91BFF-B351-4424-9FEE-B31D6CF3A6C7}" destId="{7C1E09A4-9688-4423-A6AD-0ECFDCC64466}" srcOrd="0" destOrd="0" presId="urn:microsoft.com/office/officeart/2018/2/layout/IconCircleList"/>
    <dgm:cxn modelId="{C9292873-A5A9-4A81-9CD9-195E1FE45221}" type="presOf" srcId="{F8EBDEF1-A66E-45D6-B4E2-86277E3AEB40}" destId="{DF2BB7CB-22C7-4543-BF93-A9CAD175B857}" srcOrd="0" destOrd="0" presId="urn:microsoft.com/office/officeart/2018/2/layout/IconCircleList"/>
    <dgm:cxn modelId="{9052D578-1004-4773-A911-2DF83744CD37}" type="presOf" srcId="{D1E41D32-9001-4AC2-B0C6-F8A718D3D825}" destId="{0A96B241-36FB-44FD-8206-6447FBEA6E02}" srcOrd="0" destOrd="0" presId="urn:microsoft.com/office/officeart/2018/2/layout/IconCircleList"/>
    <dgm:cxn modelId="{90D67D5A-207A-4775-804A-00971CE93F97}" type="presOf" srcId="{758B5389-30FE-473D-B82B-DB8EDD2C6903}" destId="{5C3DE797-6FB7-482D-8C63-AA201F870CC9}" srcOrd="0" destOrd="0" presId="urn:microsoft.com/office/officeart/2018/2/layout/IconCircleList"/>
    <dgm:cxn modelId="{15409C7D-A376-4AED-8832-14EC68A9EA84}" type="presOf" srcId="{BAAEBB75-F9B6-4B36-8CC3-0118AC373780}" destId="{6B4894AA-58A2-4A80-8EFF-84CD1842F708}" srcOrd="0" destOrd="0" presId="urn:microsoft.com/office/officeart/2018/2/layout/IconCircleList"/>
    <dgm:cxn modelId="{7EB5D2A6-A854-4B33-A49E-00BDA8816732}" srcId="{B596D5CE-2F73-4C41-9376-BC6AE5C00619}" destId="{25E57EEC-8876-4BE7-8BE6-699619FA8D27}" srcOrd="7" destOrd="0" parTransId="{856555D7-65B3-4559-B92A-E3EAC8FEEB8A}" sibTransId="{FB218E93-179E-4996-AD74-0CD10485FAA2}"/>
    <dgm:cxn modelId="{B8D9E5B9-4BBD-4024-9E86-20A10CBAF3E0}" type="presOf" srcId="{572B74E3-1BC9-4EEF-AF06-49D85C165D52}" destId="{4D79A334-C640-4449-8E5C-4E6FEC1A0504}" srcOrd="0" destOrd="0" presId="urn:microsoft.com/office/officeart/2018/2/layout/IconCircleList"/>
    <dgm:cxn modelId="{904BEACD-B9A7-440E-90D5-64A227E654AF}" type="presOf" srcId="{E3C99EB8-3A7B-43F3-A092-5B3B1377B3DF}" destId="{6AC71E27-7C24-4EFE-A71B-CF57D444D0B7}" srcOrd="0" destOrd="0" presId="urn:microsoft.com/office/officeart/2018/2/layout/IconCircleList"/>
    <dgm:cxn modelId="{8ECB87D2-D82D-4020-B538-06BE4FC142EC}" type="presOf" srcId="{8A1D4D23-0933-4FEE-9CBC-03E04E54FB5D}" destId="{4996A909-17A8-49BF-B963-24DE8F76AEFC}" srcOrd="0" destOrd="0" presId="urn:microsoft.com/office/officeart/2018/2/layout/IconCircleList"/>
    <dgm:cxn modelId="{D97EA8D8-9AA1-444C-BDC1-47CF646396C1}" srcId="{B596D5CE-2F73-4C41-9376-BC6AE5C00619}" destId="{758B5389-30FE-473D-B82B-DB8EDD2C6903}" srcOrd="5" destOrd="0" parTransId="{70651F55-4344-42AC-860C-A29E8478972A}" sibTransId="{572B74E3-1BC9-4EEF-AF06-49D85C165D52}"/>
    <dgm:cxn modelId="{C92863DD-4865-411A-B2F1-A5970EBD97AB}" srcId="{B596D5CE-2F73-4C41-9376-BC6AE5C00619}" destId="{BAAEBB75-F9B6-4B36-8CC3-0118AC373780}" srcOrd="3" destOrd="0" parTransId="{293B71E8-AF5B-4932-8192-54B98EDA3813}" sibTransId="{8A1D4D23-0933-4FEE-9CBC-03E04E54FB5D}"/>
    <dgm:cxn modelId="{C6ED48E7-72DE-4578-8828-094D920BF51B}" srcId="{B596D5CE-2F73-4C41-9376-BC6AE5C00619}" destId="{F9D0F626-A044-4409-A5A6-15C72E742194}" srcOrd="6" destOrd="0" parTransId="{E4C79108-03D9-43DA-A399-D805993D1BF5}" sibTransId="{B8C6A187-5548-4861-A2E0-70E2BF57F896}"/>
    <dgm:cxn modelId="{23E379EA-E357-496B-AFAD-EAA7EFD93043}" srcId="{B596D5CE-2F73-4C41-9376-BC6AE5C00619}" destId="{E3C99EB8-3A7B-43F3-A092-5B3B1377B3DF}" srcOrd="1" destOrd="0" parTransId="{29DFF4C6-1085-41A0-BDEA-DBFBCF62FCA4}" sibTransId="{96C91BFF-B351-4424-9FEE-B31D6CF3A6C7}"/>
    <dgm:cxn modelId="{1583FCEE-ABB9-4659-8D0C-FBFCD55F9A99}" srcId="{B596D5CE-2F73-4C41-9376-BC6AE5C00619}" destId="{F8EBDEF1-A66E-45D6-B4E2-86277E3AEB40}" srcOrd="2" destOrd="0" parTransId="{2306A01D-F858-4005-AAD6-AC141AA99368}" sibTransId="{D1E41D32-9001-4AC2-B0C6-F8A718D3D825}"/>
    <dgm:cxn modelId="{CE8B71EF-D63C-4E63-9720-B10A672560FE}" type="presOf" srcId="{92918FF0-18CC-457A-ADA5-2FBA9A222666}" destId="{9D2A773A-0508-409F-95F5-2301AEA38AD7}" srcOrd="0" destOrd="0" presId="urn:microsoft.com/office/officeart/2018/2/layout/IconCircleList"/>
    <dgm:cxn modelId="{BA5505F9-F0C4-4C3D-9DAB-003ED8B319AD}" type="presOf" srcId="{B596D5CE-2F73-4C41-9376-BC6AE5C00619}" destId="{134D5F3C-E2D9-482E-B5F8-5BD41B2BDC74}" srcOrd="0" destOrd="0" presId="urn:microsoft.com/office/officeart/2018/2/layout/IconCircleList"/>
    <dgm:cxn modelId="{253D69A2-834F-40DC-A1D8-3BF0187C4092}" type="presParOf" srcId="{134D5F3C-E2D9-482E-B5F8-5BD41B2BDC74}" destId="{D0D2A348-9511-4ADB-98EE-C94C6FB1A4DE}" srcOrd="0" destOrd="0" presId="urn:microsoft.com/office/officeart/2018/2/layout/IconCircleList"/>
    <dgm:cxn modelId="{EB47FC75-0658-4039-84CD-E01004163210}" type="presParOf" srcId="{D0D2A348-9511-4ADB-98EE-C94C6FB1A4DE}" destId="{7593BD78-90CC-4538-9887-79A832410254}" srcOrd="0" destOrd="0" presId="urn:microsoft.com/office/officeart/2018/2/layout/IconCircleList"/>
    <dgm:cxn modelId="{FE5AABE5-9450-4303-8873-750332B4730F}" type="presParOf" srcId="{7593BD78-90CC-4538-9887-79A832410254}" destId="{BC56D30A-CA53-4B94-AA4A-7D18D4617BCE}" srcOrd="0" destOrd="0" presId="urn:microsoft.com/office/officeart/2018/2/layout/IconCircleList"/>
    <dgm:cxn modelId="{5534CD63-4FE7-438A-B57C-1267674C08D2}" type="presParOf" srcId="{7593BD78-90CC-4538-9887-79A832410254}" destId="{4C751EE6-ABF3-427D-89AB-F3D5EDDA9F7F}" srcOrd="1" destOrd="0" presId="urn:microsoft.com/office/officeart/2018/2/layout/IconCircleList"/>
    <dgm:cxn modelId="{7D2F205B-5B3B-4E03-B141-D1EED6C8110C}" type="presParOf" srcId="{7593BD78-90CC-4538-9887-79A832410254}" destId="{08E3394F-553E-41EC-945B-889B33E0B831}" srcOrd="2" destOrd="0" presId="urn:microsoft.com/office/officeart/2018/2/layout/IconCircleList"/>
    <dgm:cxn modelId="{C3DCAD74-0425-4B4B-AC8E-898AAB7FBDF9}" type="presParOf" srcId="{7593BD78-90CC-4538-9887-79A832410254}" destId="{1185A087-46F1-4E90-802B-329AFDF69500}" srcOrd="3" destOrd="0" presId="urn:microsoft.com/office/officeart/2018/2/layout/IconCircleList"/>
    <dgm:cxn modelId="{C6A354CE-B61E-4AF7-B2F9-A7C4A7F36C5B}" type="presParOf" srcId="{D0D2A348-9511-4ADB-98EE-C94C6FB1A4DE}" destId="{7337A2E3-CFF2-412C-A54A-CE87EF3C2BDB}" srcOrd="1" destOrd="0" presId="urn:microsoft.com/office/officeart/2018/2/layout/IconCircleList"/>
    <dgm:cxn modelId="{F100C4FC-EAB7-4FC4-9814-1F74ACCB9263}" type="presParOf" srcId="{D0D2A348-9511-4ADB-98EE-C94C6FB1A4DE}" destId="{55B8E52D-A2F2-46F7-BB7D-6CB1C7E50CDB}" srcOrd="2" destOrd="0" presId="urn:microsoft.com/office/officeart/2018/2/layout/IconCircleList"/>
    <dgm:cxn modelId="{37113454-75E5-4AB3-A0D1-6D930901A9B2}" type="presParOf" srcId="{55B8E52D-A2F2-46F7-BB7D-6CB1C7E50CDB}" destId="{8172B59F-76C1-4A27-B3EF-7D60BE6F08CA}" srcOrd="0" destOrd="0" presId="urn:microsoft.com/office/officeart/2018/2/layout/IconCircleList"/>
    <dgm:cxn modelId="{1512AB77-0576-46DA-8658-FA53EBDF3C30}" type="presParOf" srcId="{55B8E52D-A2F2-46F7-BB7D-6CB1C7E50CDB}" destId="{0B5F5CAE-2BB4-4463-8F4E-1C4453F8E509}" srcOrd="1" destOrd="0" presId="urn:microsoft.com/office/officeart/2018/2/layout/IconCircleList"/>
    <dgm:cxn modelId="{DADBD2FA-E374-47F3-8EC1-D2558FCB45E8}" type="presParOf" srcId="{55B8E52D-A2F2-46F7-BB7D-6CB1C7E50CDB}" destId="{632B1B2E-ABD5-4423-8485-71CD9839407D}" srcOrd="2" destOrd="0" presId="urn:microsoft.com/office/officeart/2018/2/layout/IconCircleList"/>
    <dgm:cxn modelId="{8E825B62-F657-4273-8AEA-20EF2FE68F4C}" type="presParOf" srcId="{55B8E52D-A2F2-46F7-BB7D-6CB1C7E50CDB}" destId="{6AC71E27-7C24-4EFE-A71B-CF57D444D0B7}" srcOrd="3" destOrd="0" presId="urn:microsoft.com/office/officeart/2018/2/layout/IconCircleList"/>
    <dgm:cxn modelId="{C2EC686B-672A-44A1-B90B-A039810A1D41}" type="presParOf" srcId="{D0D2A348-9511-4ADB-98EE-C94C6FB1A4DE}" destId="{7C1E09A4-9688-4423-A6AD-0ECFDCC64466}" srcOrd="3" destOrd="0" presId="urn:microsoft.com/office/officeart/2018/2/layout/IconCircleList"/>
    <dgm:cxn modelId="{751F5775-FB0C-40FC-862C-EF41303A20EF}" type="presParOf" srcId="{D0D2A348-9511-4ADB-98EE-C94C6FB1A4DE}" destId="{6519C15C-0ACF-4764-8A0E-025BECAB7EE5}" srcOrd="4" destOrd="0" presId="urn:microsoft.com/office/officeart/2018/2/layout/IconCircleList"/>
    <dgm:cxn modelId="{ABEACEF1-35E6-4979-B86D-88D223CE403D}" type="presParOf" srcId="{6519C15C-0ACF-4764-8A0E-025BECAB7EE5}" destId="{7F5088C7-A7E0-48E2-8895-A3F03F622854}" srcOrd="0" destOrd="0" presId="urn:microsoft.com/office/officeart/2018/2/layout/IconCircleList"/>
    <dgm:cxn modelId="{5F7B998E-E7B2-4AA5-9CB4-239B4378F555}" type="presParOf" srcId="{6519C15C-0ACF-4764-8A0E-025BECAB7EE5}" destId="{DBDBF874-B63E-433F-BF32-27A6E0CA2FFA}" srcOrd="1" destOrd="0" presId="urn:microsoft.com/office/officeart/2018/2/layout/IconCircleList"/>
    <dgm:cxn modelId="{D85E8F90-B736-4837-913A-6F566C3BCA62}" type="presParOf" srcId="{6519C15C-0ACF-4764-8A0E-025BECAB7EE5}" destId="{D9920FA4-9EA2-4C10-B16C-7546473211B8}" srcOrd="2" destOrd="0" presId="urn:microsoft.com/office/officeart/2018/2/layout/IconCircleList"/>
    <dgm:cxn modelId="{C1327E50-A6F2-4DF6-9C38-A75439EB5B72}" type="presParOf" srcId="{6519C15C-0ACF-4764-8A0E-025BECAB7EE5}" destId="{DF2BB7CB-22C7-4543-BF93-A9CAD175B857}" srcOrd="3" destOrd="0" presId="urn:microsoft.com/office/officeart/2018/2/layout/IconCircleList"/>
    <dgm:cxn modelId="{640C5F35-E699-457D-9291-54B046307D8A}" type="presParOf" srcId="{D0D2A348-9511-4ADB-98EE-C94C6FB1A4DE}" destId="{0A96B241-36FB-44FD-8206-6447FBEA6E02}" srcOrd="5" destOrd="0" presId="urn:microsoft.com/office/officeart/2018/2/layout/IconCircleList"/>
    <dgm:cxn modelId="{0D350273-2A6D-41CA-BAEB-C0B9BC4694DE}" type="presParOf" srcId="{D0D2A348-9511-4ADB-98EE-C94C6FB1A4DE}" destId="{A829490A-A57E-4320-BEA1-18EBA64707B4}" srcOrd="6" destOrd="0" presId="urn:microsoft.com/office/officeart/2018/2/layout/IconCircleList"/>
    <dgm:cxn modelId="{189D7FB4-EF20-4764-B9F2-893F7990D5ED}" type="presParOf" srcId="{A829490A-A57E-4320-BEA1-18EBA64707B4}" destId="{3324B3EC-F61C-43F2-A025-1014DF8B910D}" srcOrd="0" destOrd="0" presId="urn:microsoft.com/office/officeart/2018/2/layout/IconCircleList"/>
    <dgm:cxn modelId="{464C7D92-6494-4FD1-9D3C-92F7CA339A5B}" type="presParOf" srcId="{A829490A-A57E-4320-BEA1-18EBA64707B4}" destId="{A9729E85-B86D-49FD-AA16-A22949FBCB96}" srcOrd="1" destOrd="0" presId="urn:microsoft.com/office/officeart/2018/2/layout/IconCircleList"/>
    <dgm:cxn modelId="{E5A45289-8081-4641-AE15-671305C1E9DF}" type="presParOf" srcId="{A829490A-A57E-4320-BEA1-18EBA64707B4}" destId="{18531642-81FB-4C94-8D70-A606A4C130E3}" srcOrd="2" destOrd="0" presId="urn:microsoft.com/office/officeart/2018/2/layout/IconCircleList"/>
    <dgm:cxn modelId="{41CA1A0C-AA70-42C3-BEC3-E02932741899}" type="presParOf" srcId="{A829490A-A57E-4320-BEA1-18EBA64707B4}" destId="{6B4894AA-58A2-4A80-8EFF-84CD1842F708}" srcOrd="3" destOrd="0" presId="urn:microsoft.com/office/officeart/2018/2/layout/IconCircleList"/>
    <dgm:cxn modelId="{89EACD17-D828-4D47-AB70-1A00EF6EF248}" type="presParOf" srcId="{D0D2A348-9511-4ADB-98EE-C94C6FB1A4DE}" destId="{4996A909-17A8-49BF-B963-24DE8F76AEFC}" srcOrd="7" destOrd="0" presId="urn:microsoft.com/office/officeart/2018/2/layout/IconCircleList"/>
    <dgm:cxn modelId="{E00CFED9-75E5-4CF2-BCF2-44BDD56591F9}" type="presParOf" srcId="{D0D2A348-9511-4ADB-98EE-C94C6FB1A4DE}" destId="{82884AEB-E7A9-47A2-B719-6AD42936ED54}" srcOrd="8" destOrd="0" presId="urn:microsoft.com/office/officeart/2018/2/layout/IconCircleList"/>
    <dgm:cxn modelId="{7F2300CA-3A53-49ED-86FF-2A404D16A5F2}" type="presParOf" srcId="{82884AEB-E7A9-47A2-B719-6AD42936ED54}" destId="{B9639417-11BF-4A51-A232-4BBA5DCBEB49}" srcOrd="0" destOrd="0" presId="urn:microsoft.com/office/officeart/2018/2/layout/IconCircleList"/>
    <dgm:cxn modelId="{A4C7174D-F883-4ED3-B0BA-873BBE37F254}" type="presParOf" srcId="{82884AEB-E7A9-47A2-B719-6AD42936ED54}" destId="{ADA23323-B240-4245-9D6F-0723A515E9F1}" srcOrd="1" destOrd="0" presId="urn:microsoft.com/office/officeart/2018/2/layout/IconCircleList"/>
    <dgm:cxn modelId="{3F49B4D8-DECF-4221-8AFF-62BF81FD9D6A}" type="presParOf" srcId="{82884AEB-E7A9-47A2-B719-6AD42936ED54}" destId="{8ECF62DE-0F8B-4893-B8ED-23C623D50668}" srcOrd="2" destOrd="0" presId="urn:microsoft.com/office/officeart/2018/2/layout/IconCircleList"/>
    <dgm:cxn modelId="{B337844B-3BA1-4687-8AD5-7353C08FC811}" type="presParOf" srcId="{82884AEB-E7A9-47A2-B719-6AD42936ED54}" destId="{9D2A773A-0508-409F-95F5-2301AEA38AD7}" srcOrd="3" destOrd="0" presId="urn:microsoft.com/office/officeart/2018/2/layout/IconCircleList"/>
    <dgm:cxn modelId="{E9A09629-42ED-4082-9187-B474F9E8A1D4}" type="presParOf" srcId="{D0D2A348-9511-4ADB-98EE-C94C6FB1A4DE}" destId="{CDC3243F-4A06-47CB-A60D-B24C10F76348}" srcOrd="9" destOrd="0" presId="urn:microsoft.com/office/officeart/2018/2/layout/IconCircleList"/>
    <dgm:cxn modelId="{4ED97DC9-C891-4740-BD4E-03B985E27295}" type="presParOf" srcId="{D0D2A348-9511-4ADB-98EE-C94C6FB1A4DE}" destId="{6A25F9A5-160F-454D-B08E-236ED69A62C1}" srcOrd="10" destOrd="0" presId="urn:microsoft.com/office/officeart/2018/2/layout/IconCircleList"/>
    <dgm:cxn modelId="{B7501DFE-E546-4AA2-B091-6F8D50AC4174}" type="presParOf" srcId="{6A25F9A5-160F-454D-B08E-236ED69A62C1}" destId="{7A627A47-6D2A-468E-A5A5-6554B46856F3}" srcOrd="0" destOrd="0" presId="urn:microsoft.com/office/officeart/2018/2/layout/IconCircleList"/>
    <dgm:cxn modelId="{8010762A-B5D9-4CC0-890A-CD5B9EB1A291}" type="presParOf" srcId="{6A25F9A5-160F-454D-B08E-236ED69A62C1}" destId="{5340BABE-DC18-4BE7-A7D1-6A81787BBEFD}" srcOrd="1" destOrd="0" presId="urn:microsoft.com/office/officeart/2018/2/layout/IconCircleList"/>
    <dgm:cxn modelId="{24EC467F-18AE-4377-8B25-0DFF57614C82}" type="presParOf" srcId="{6A25F9A5-160F-454D-B08E-236ED69A62C1}" destId="{E57E88FA-2E47-4F6C-B26B-5B3D73D7A010}" srcOrd="2" destOrd="0" presId="urn:microsoft.com/office/officeart/2018/2/layout/IconCircleList"/>
    <dgm:cxn modelId="{B41BF65B-0072-4609-B832-002C0181814E}" type="presParOf" srcId="{6A25F9A5-160F-454D-B08E-236ED69A62C1}" destId="{5C3DE797-6FB7-482D-8C63-AA201F870CC9}" srcOrd="3" destOrd="0" presId="urn:microsoft.com/office/officeart/2018/2/layout/IconCircleList"/>
    <dgm:cxn modelId="{FE138C1D-5563-4284-B286-E5567B179A8E}" type="presParOf" srcId="{D0D2A348-9511-4ADB-98EE-C94C6FB1A4DE}" destId="{4D79A334-C640-4449-8E5C-4E6FEC1A0504}" srcOrd="11" destOrd="0" presId="urn:microsoft.com/office/officeart/2018/2/layout/IconCircleList"/>
    <dgm:cxn modelId="{ABB1F3F5-689A-4F98-BA05-F9554BC62396}" type="presParOf" srcId="{D0D2A348-9511-4ADB-98EE-C94C6FB1A4DE}" destId="{74670A55-04D6-4E08-813E-C90CCCE23235}" srcOrd="12" destOrd="0" presId="urn:microsoft.com/office/officeart/2018/2/layout/IconCircleList"/>
    <dgm:cxn modelId="{2BAB249B-7FE9-42F5-A5B5-3B7160BEE577}" type="presParOf" srcId="{74670A55-04D6-4E08-813E-C90CCCE23235}" destId="{6BAF470D-5AE7-4300-B390-8EFD1EC52DBD}" srcOrd="0" destOrd="0" presId="urn:microsoft.com/office/officeart/2018/2/layout/IconCircleList"/>
    <dgm:cxn modelId="{40C97C42-C3C4-4C82-8B6E-A171B72499A0}" type="presParOf" srcId="{74670A55-04D6-4E08-813E-C90CCCE23235}" destId="{769F7012-9C0C-46FA-B653-785556523A91}" srcOrd="1" destOrd="0" presId="urn:microsoft.com/office/officeart/2018/2/layout/IconCircleList"/>
    <dgm:cxn modelId="{E8B5D3B5-BC60-4B63-8B70-C42DB745C465}" type="presParOf" srcId="{74670A55-04D6-4E08-813E-C90CCCE23235}" destId="{0A192B15-A15A-4208-99A8-3676AB548D66}" srcOrd="2" destOrd="0" presId="urn:microsoft.com/office/officeart/2018/2/layout/IconCircleList"/>
    <dgm:cxn modelId="{A7778F56-FF7B-47E3-BCE2-3ACFA50537BC}" type="presParOf" srcId="{74670A55-04D6-4E08-813E-C90CCCE23235}" destId="{FBAFD05B-19BF-422E-A330-33DC2555DA0C}" srcOrd="3" destOrd="0" presId="urn:microsoft.com/office/officeart/2018/2/layout/IconCircleList"/>
    <dgm:cxn modelId="{53401A62-E649-49F1-8D54-F95DB4DDD722}" type="presParOf" srcId="{D0D2A348-9511-4ADB-98EE-C94C6FB1A4DE}" destId="{7A531CA6-CF1A-4966-A590-83A20D42E95B}" srcOrd="13" destOrd="0" presId="urn:microsoft.com/office/officeart/2018/2/layout/IconCircleList"/>
    <dgm:cxn modelId="{5DABC4FF-712C-450F-BE92-AD0226305446}" type="presParOf" srcId="{D0D2A348-9511-4ADB-98EE-C94C6FB1A4DE}" destId="{F4C71925-97AF-4C1B-8609-8C6DFCC2B6B7}" srcOrd="14" destOrd="0" presId="urn:microsoft.com/office/officeart/2018/2/layout/IconCircleList"/>
    <dgm:cxn modelId="{CD4A5F32-0C8A-4AC7-9F53-81FA5B1FAACE}" type="presParOf" srcId="{F4C71925-97AF-4C1B-8609-8C6DFCC2B6B7}" destId="{13755551-A38B-4901-A89D-181678CEF4C7}" srcOrd="0" destOrd="0" presId="urn:microsoft.com/office/officeart/2018/2/layout/IconCircleList"/>
    <dgm:cxn modelId="{8699C272-2385-413C-AA78-758780C14C99}" type="presParOf" srcId="{F4C71925-97AF-4C1B-8609-8C6DFCC2B6B7}" destId="{EBE41381-8499-4C77-867B-2E95A7CF0A0D}" srcOrd="1" destOrd="0" presId="urn:microsoft.com/office/officeart/2018/2/layout/IconCircleList"/>
    <dgm:cxn modelId="{008A6024-6888-4CA2-93D9-CDA29B442A8D}" type="presParOf" srcId="{F4C71925-97AF-4C1B-8609-8C6DFCC2B6B7}" destId="{E4C27F26-8D06-499D-8F58-A2DB0B62C53B}" srcOrd="2" destOrd="0" presId="urn:microsoft.com/office/officeart/2018/2/layout/IconCircleList"/>
    <dgm:cxn modelId="{01F414EA-2CD2-4939-9567-877D400B3DDD}" type="presParOf" srcId="{F4C71925-97AF-4C1B-8609-8C6DFCC2B6B7}" destId="{36A59493-DB72-4C83-8664-0C680C67BCA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6D30A-CA53-4B94-AA4A-7D18D4617BCE}">
      <dsp:nvSpPr>
        <dsp:cNvPr id="0" name=""/>
        <dsp:cNvSpPr/>
      </dsp:nvSpPr>
      <dsp:spPr>
        <a:xfrm>
          <a:off x="82613" y="90470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51EE6-ABF3-427D-89AB-F3D5EDDA9F7F}">
      <dsp:nvSpPr>
        <dsp:cNvPr id="0" name=""/>
        <dsp:cNvSpPr/>
      </dsp:nvSpPr>
      <dsp:spPr>
        <a:xfrm>
          <a:off x="271034" y="278892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5A087-46F1-4E90-802B-329AFDF69500}">
      <dsp:nvSpPr>
        <dsp:cNvPr id="0" name=""/>
        <dsp:cNvSpPr/>
      </dsp:nvSpPr>
      <dsp:spPr>
        <a:xfrm>
          <a:off x="1172126" y="9047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latin typeface="Franklin Gothic Demi" panose="020B0703020102020204" pitchFamily="34" charset="0"/>
            </a:rPr>
            <a:t>Punctuality</a:t>
          </a:r>
          <a:endParaRPr lang="en-US" sz="2200" kern="1200">
            <a:latin typeface="Franklin Gothic Demi" panose="020B0703020102020204" pitchFamily="34" charset="0"/>
          </a:endParaRPr>
        </a:p>
      </dsp:txBody>
      <dsp:txXfrm>
        <a:off x="1172126" y="90470"/>
        <a:ext cx="2114937" cy="897246"/>
      </dsp:txXfrm>
    </dsp:sp>
    <dsp:sp modelId="{8172B59F-76C1-4A27-B3EF-7D60BE6F08CA}">
      <dsp:nvSpPr>
        <dsp:cNvPr id="0" name=""/>
        <dsp:cNvSpPr/>
      </dsp:nvSpPr>
      <dsp:spPr>
        <a:xfrm>
          <a:off x="3655575" y="90470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5F5CAE-2BB4-4463-8F4E-1C4453F8E509}">
      <dsp:nvSpPr>
        <dsp:cNvPr id="0" name=""/>
        <dsp:cNvSpPr/>
      </dsp:nvSpPr>
      <dsp:spPr>
        <a:xfrm>
          <a:off x="3843996" y="278892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71E27-7C24-4EFE-A71B-CF57D444D0B7}">
      <dsp:nvSpPr>
        <dsp:cNvPr id="0" name=""/>
        <dsp:cNvSpPr/>
      </dsp:nvSpPr>
      <dsp:spPr>
        <a:xfrm>
          <a:off x="4745088" y="9047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latin typeface="Franklin Gothic Demi" panose="020B0703020102020204" pitchFamily="34" charset="0"/>
            </a:rPr>
            <a:t>Have an </a:t>
          </a:r>
        </a:p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latin typeface="Franklin Gothic Demi" panose="020B0703020102020204" pitchFamily="34" charset="0"/>
            </a:rPr>
            <a:t>Open Mind</a:t>
          </a:r>
          <a:endParaRPr lang="en-US" sz="2200" kern="1200">
            <a:latin typeface="Franklin Gothic Demi" panose="020B0703020102020204" pitchFamily="34" charset="0"/>
          </a:endParaRPr>
        </a:p>
      </dsp:txBody>
      <dsp:txXfrm>
        <a:off x="4745088" y="90470"/>
        <a:ext cx="2114937" cy="897246"/>
      </dsp:txXfrm>
    </dsp:sp>
    <dsp:sp modelId="{7F5088C7-A7E0-48E2-8895-A3F03F622854}">
      <dsp:nvSpPr>
        <dsp:cNvPr id="0" name=""/>
        <dsp:cNvSpPr/>
      </dsp:nvSpPr>
      <dsp:spPr>
        <a:xfrm>
          <a:off x="7228536" y="90470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BF874-B63E-433F-BF32-27A6E0CA2FFA}">
      <dsp:nvSpPr>
        <dsp:cNvPr id="0" name=""/>
        <dsp:cNvSpPr/>
      </dsp:nvSpPr>
      <dsp:spPr>
        <a:xfrm>
          <a:off x="7416958" y="278892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BB7CB-22C7-4543-BF93-A9CAD175B857}">
      <dsp:nvSpPr>
        <dsp:cNvPr id="0" name=""/>
        <dsp:cNvSpPr/>
      </dsp:nvSpPr>
      <dsp:spPr>
        <a:xfrm>
          <a:off x="8318049" y="9047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latin typeface="Franklin Gothic Demi" panose="020B0703020102020204" pitchFamily="34" charset="0"/>
            </a:rPr>
            <a:t>One Class</a:t>
          </a:r>
          <a:endParaRPr lang="en-US" sz="2200" kern="1200">
            <a:latin typeface="Franklin Gothic Demi" panose="020B0703020102020204" pitchFamily="34" charset="0"/>
          </a:endParaRPr>
        </a:p>
      </dsp:txBody>
      <dsp:txXfrm>
        <a:off x="8318049" y="90470"/>
        <a:ext cx="2114937" cy="897246"/>
      </dsp:txXfrm>
    </dsp:sp>
    <dsp:sp modelId="{3324B3EC-F61C-43F2-A025-1014DF8B910D}">
      <dsp:nvSpPr>
        <dsp:cNvPr id="0" name=""/>
        <dsp:cNvSpPr/>
      </dsp:nvSpPr>
      <dsp:spPr>
        <a:xfrm>
          <a:off x="82613" y="1727649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29E85-B86D-49FD-AA16-A22949FBCB96}">
      <dsp:nvSpPr>
        <dsp:cNvPr id="0" name=""/>
        <dsp:cNvSpPr/>
      </dsp:nvSpPr>
      <dsp:spPr>
        <a:xfrm>
          <a:off x="271034" y="191607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894AA-58A2-4A80-8EFF-84CD1842F708}">
      <dsp:nvSpPr>
        <dsp:cNvPr id="0" name=""/>
        <dsp:cNvSpPr/>
      </dsp:nvSpPr>
      <dsp:spPr>
        <a:xfrm>
          <a:off x="1172126" y="172764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latin typeface="Franklin Gothic Demi" panose="020B0703020102020204" pitchFamily="34" charset="0"/>
            </a:rPr>
            <a:t>Participation</a:t>
          </a:r>
          <a:endParaRPr lang="en-US" sz="2200" kern="1200">
            <a:latin typeface="Franklin Gothic Demi" panose="020B0703020102020204" pitchFamily="34" charset="0"/>
          </a:endParaRPr>
        </a:p>
      </dsp:txBody>
      <dsp:txXfrm>
        <a:off x="1172126" y="1727649"/>
        <a:ext cx="2114937" cy="897246"/>
      </dsp:txXfrm>
    </dsp:sp>
    <dsp:sp modelId="{B9639417-11BF-4A51-A232-4BBA5DCBEB49}">
      <dsp:nvSpPr>
        <dsp:cNvPr id="0" name=""/>
        <dsp:cNvSpPr/>
      </dsp:nvSpPr>
      <dsp:spPr>
        <a:xfrm>
          <a:off x="3655575" y="1727649"/>
          <a:ext cx="897246" cy="8972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23323-B240-4245-9D6F-0723A515E9F1}">
      <dsp:nvSpPr>
        <dsp:cNvPr id="0" name=""/>
        <dsp:cNvSpPr/>
      </dsp:nvSpPr>
      <dsp:spPr>
        <a:xfrm>
          <a:off x="3843996" y="191607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A773A-0508-409F-95F5-2301AEA38AD7}">
      <dsp:nvSpPr>
        <dsp:cNvPr id="0" name=""/>
        <dsp:cNvSpPr/>
      </dsp:nvSpPr>
      <dsp:spPr>
        <a:xfrm>
          <a:off x="4745088" y="172764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Franklin Gothic Demi" panose="020B0703020102020204" pitchFamily="34" charset="0"/>
            </a:rPr>
            <a:t>Respect</a:t>
          </a:r>
        </a:p>
      </dsp:txBody>
      <dsp:txXfrm>
        <a:off x="4745088" y="1727649"/>
        <a:ext cx="2114937" cy="897246"/>
      </dsp:txXfrm>
    </dsp:sp>
    <dsp:sp modelId="{7A627A47-6D2A-468E-A5A5-6554B46856F3}">
      <dsp:nvSpPr>
        <dsp:cNvPr id="0" name=""/>
        <dsp:cNvSpPr/>
      </dsp:nvSpPr>
      <dsp:spPr>
        <a:xfrm>
          <a:off x="7228536" y="1727649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0BABE-DC18-4BE7-A7D1-6A81787BBEFD}">
      <dsp:nvSpPr>
        <dsp:cNvPr id="0" name=""/>
        <dsp:cNvSpPr/>
      </dsp:nvSpPr>
      <dsp:spPr>
        <a:xfrm>
          <a:off x="7416958" y="191607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DE797-6FB7-482D-8C63-AA201F870CC9}">
      <dsp:nvSpPr>
        <dsp:cNvPr id="0" name=""/>
        <dsp:cNvSpPr/>
      </dsp:nvSpPr>
      <dsp:spPr>
        <a:xfrm>
          <a:off x="8318049" y="172764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latin typeface="Franklin Gothic Demi" panose="020B0703020102020204" pitchFamily="34" charset="0"/>
            </a:rPr>
            <a:t>Ask Questions</a:t>
          </a:r>
          <a:endParaRPr lang="en-US" sz="2200" kern="1200" dirty="0">
            <a:latin typeface="Franklin Gothic Demi" panose="020B0703020102020204" pitchFamily="34" charset="0"/>
          </a:endParaRPr>
        </a:p>
      </dsp:txBody>
      <dsp:txXfrm>
        <a:off x="8318049" y="1727649"/>
        <a:ext cx="2114937" cy="897246"/>
      </dsp:txXfrm>
    </dsp:sp>
    <dsp:sp modelId="{6BAF470D-5AE7-4300-B390-8EFD1EC52DBD}">
      <dsp:nvSpPr>
        <dsp:cNvPr id="0" name=""/>
        <dsp:cNvSpPr/>
      </dsp:nvSpPr>
      <dsp:spPr>
        <a:xfrm>
          <a:off x="82613" y="3364827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F7012-9C0C-46FA-B653-785556523A91}">
      <dsp:nvSpPr>
        <dsp:cNvPr id="0" name=""/>
        <dsp:cNvSpPr/>
      </dsp:nvSpPr>
      <dsp:spPr>
        <a:xfrm>
          <a:off x="271034" y="3553249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FD05B-19BF-422E-A330-33DC2555DA0C}">
      <dsp:nvSpPr>
        <dsp:cNvPr id="0" name=""/>
        <dsp:cNvSpPr/>
      </dsp:nvSpPr>
      <dsp:spPr>
        <a:xfrm>
          <a:off x="1172126" y="336482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Franklin Gothic Demi" panose="020B0703020102020204" pitchFamily="34" charset="0"/>
            </a:rPr>
            <a:t>Mute your mic always</a:t>
          </a:r>
          <a:endParaRPr lang="en-US" sz="2200" kern="1200" dirty="0">
            <a:latin typeface="Franklin Gothic Demi" panose="020B0703020102020204" pitchFamily="34" charset="0"/>
          </a:endParaRPr>
        </a:p>
      </dsp:txBody>
      <dsp:txXfrm>
        <a:off x="1172126" y="3364827"/>
        <a:ext cx="2114937" cy="897246"/>
      </dsp:txXfrm>
    </dsp:sp>
    <dsp:sp modelId="{13755551-A38B-4901-A89D-181678CEF4C7}">
      <dsp:nvSpPr>
        <dsp:cNvPr id="0" name=""/>
        <dsp:cNvSpPr/>
      </dsp:nvSpPr>
      <dsp:spPr>
        <a:xfrm>
          <a:off x="3655575" y="3364827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41381-8499-4C77-867B-2E95A7CF0A0D}">
      <dsp:nvSpPr>
        <dsp:cNvPr id="0" name=""/>
        <dsp:cNvSpPr/>
      </dsp:nvSpPr>
      <dsp:spPr>
        <a:xfrm>
          <a:off x="3843996" y="3553249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tx1"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59493-DB72-4C83-8664-0C680C67BCA2}">
      <dsp:nvSpPr>
        <dsp:cNvPr id="0" name=""/>
        <dsp:cNvSpPr/>
      </dsp:nvSpPr>
      <dsp:spPr>
        <a:xfrm>
          <a:off x="4745088" y="336482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Franklin Gothic Demi" panose="020B0703020102020204" pitchFamily="34" charset="0"/>
            </a:rPr>
            <a:t>Raise your hand before you speak</a:t>
          </a:r>
        </a:p>
      </dsp:txBody>
      <dsp:txXfrm>
        <a:off x="4745088" y="3364827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I ask a question, they should raise up their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E4959-7BC5-47BF-AE30-BECDE3A896D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23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prstGeom prst="flowChartConnector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prstGeom prst="flowChartConnector">
            <a:avLst/>
          </a:pr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06E0-6043-47BC-9989-B3C1DD25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A45FE-08AE-41DE-84AA-EBCA3ECC8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43CE4-DB84-4101-A706-1204077D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B6A2-BE32-4810-BA7B-729B81CBE921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4792B-AE21-4FFA-B509-F2759A4A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A3297-C9DC-4820-9A5F-13B0A00F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B57-B6D4-4643-8804-E826BEA86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3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62" y="1422401"/>
            <a:ext cx="10905238" cy="4933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196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14397"/>
            <a:ext cx="10515600" cy="701731"/>
          </a:xfrm>
        </p:spPr>
        <p:txBody>
          <a:bodyPr wrap="square" anchor="b">
            <a:sp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71612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896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>
          <a:xfrm>
            <a:off x="1160463" y="1430338"/>
            <a:ext cx="9285287" cy="4841875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0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292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3CADA26-B09A-4388-8C85-C278619A308C}"/>
              </a:ext>
            </a:extLst>
          </p:cNvPr>
          <p:cNvSpPr/>
          <p:nvPr userDrawn="1"/>
        </p:nvSpPr>
        <p:spPr>
          <a:xfrm>
            <a:off x="620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CEBF60-FE3B-4C42-AE71-4D5596E00D04}"/>
              </a:ext>
            </a:extLst>
          </p:cNvPr>
          <p:cNvSpPr/>
          <p:nvPr userDrawn="1"/>
        </p:nvSpPr>
        <p:spPr>
          <a:xfrm>
            <a:off x="132943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50257E-EDD1-4566-830D-D005694953AD}"/>
              </a:ext>
            </a:extLst>
          </p:cNvPr>
          <p:cNvSpPr/>
          <p:nvPr userDrawn="1"/>
        </p:nvSpPr>
        <p:spPr>
          <a:xfrm>
            <a:off x="25967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8644C6-CF35-4280-88DD-F10949023494}"/>
              </a:ext>
            </a:extLst>
          </p:cNvPr>
          <p:cNvSpPr/>
          <p:nvPr userDrawn="1"/>
        </p:nvSpPr>
        <p:spPr>
          <a:xfrm>
            <a:off x="386413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E7178C-6725-453E-BA2D-1DD439D4EA0B}"/>
              </a:ext>
            </a:extLst>
          </p:cNvPr>
          <p:cNvSpPr/>
          <p:nvPr userDrawn="1"/>
        </p:nvSpPr>
        <p:spPr>
          <a:xfrm>
            <a:off x="51314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BB34A6-57DD-49FB-89DC-8C41701DB25C}"/>
              </a:ext>
            </a:extLst>
          </p:cNvPr>
          <p:cNvSpPr/>
          <p:nvPr userDrawn="1"/>
        </p:nvSpPr>
        <p:spPr>
          <a:xfrm>
            <a:off x="639883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BA22C4-517B-4B23-B875-24F49C4D65B1}"/>
              </a:ext>
            </a:extLst>
          </p:cNvPr>
          <p:cNvSpPr/>
          <p:nvPr userDrawn="1"/>
        </p:nvSpPr>
        <p:spPr>
          <a:xfrm>
            <a:off x="76661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9FE94EE-46A1-4FE3-8E0F-9C54A9D9A6F0}"/>
              </a:ext>
            </a:extLst>
          </p:cNvPr>
          <p:cNvSpPr/>
          <p:nvPr userDrawn="1"/>
        </p:nvSpPr>
        <p:spPr>
          <a:xfrm>
            <a:off x="102008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82FA98-489A-4D89-8498-2D0BA8625486}"/>
              </a:ext>
            </a:extLst>
          </p:cNvPr>
          <p:cNvSpPr/>
          <p:nvPr userDrawn="1"/>
        </p:nvSpPr>
        <p:spPr>
          <a:xfrm>
            <a:off x="11482981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A577A34-337A-493C-B99D-6578D094B474}"/>
              </a:ext>
            </a:extLst>
          </p:cNvPr>
          <p:cNvSpPr/>
          <p:nvPr userDrawn="1"/>
        </p:nvSpPr>
        <p:spPr>
          <a:xfrm>
            <a:off x="893353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D9DE9D-BE6D-4819-B84B-561EEFAA548B}"/>
              </a:ext>
            </a:extLst>
          </p:cNvPr>
          <p:cNvSpPr txBox="1"/>
          <p:nvPr userDrawn="1"/>
        </p:nvSpPr>
        <p:spPr>
          <a:xfrm>
            <a:off x="11482981" y="62433"/>
            <a:ext cx="55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6DA7FC1-7D25-46AA-AB87-D75CD289E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66812" y="1817365"/>
            <a:ext cx="9858375" cy="923330"/>
          </a:xfrm>
        </p:spPr>
        <p:txBody>
          <a:bodyPr>
            <a:spAutoFit/>
          </a:bodyPr>
          <a:lstStyle>
            <a:lvl1pPr marL="0" indent="0" algn="ctr">
              <a:buNone/>
              <a:defRPr sz="6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38C1317-96A1-48D1-89BF-4465E7E5D6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6812" y="3672085"/>
            <a:ext cx="9858375" cy="604781"/>
          </a:xfrm>
        </p:spPr>
        <p:txBody>
          <a:bodyPr>
            <a:spAutoFit/>
          </a:bodyPr>
          <a:lstStyle>
            <a:lvl1pPr marL="0" indent="0" algn="ctr">
              <a:buNone/>
              <a:defRPr sz="3600">
                <a:solidFill>
                  <a:srgbClr val="FFFF00"/>
                </a:solidFill>
                <a:latin typeface="Segoe Print" panose="020006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265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golden">
    <p:bg>
      <p:bgPr>
        <a:solidFill>
          <a:srgbClr val="292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3CADA26-B09A-4388-8C85-C278619A308C}"/>
              </a:ext>
            </a:extLst>
          </p:cNvPr>
          <p:cNvSpPr/>
          <p:nvPr userDrawn="1"/>
        </p:nvSpPr>
        <p:spPr>
          <a:xfrm>
            <a:off x="106731" y="6917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CEBF60-FE3B-4C42-AE71-4D5596E00D04}"/>
              </a:ext>
            </a:extLst>
          </p:cNvPr>
          <p:cNvSpPr/>
          <p:nvPr userDrawn="1"/>
        </p:nvSpPr>
        <p:spPr>
          <a:xfrm>
            <a:off x="2330063" y="6857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50257E-EDD1-4566-830D-D005694953AD}"/>
              </a:ext>
            </a:extLst>
          </p:cNvPr>
          <p:cNvSpPr/>
          <p:nvPr userDrawn="1"/>
        </p:nvSpPr>
        <p:spPr>
          <a:xfrm>
            <a:off x="4276817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8644C6-CF35-4280-88DD-F10949023494}"/>
              </a:ext>
            </a:extLst>
          </p:cNvPr>
          <p:cNvSpPr/>
          <p:nvPr userDrawn="1"/>
        </p:nvSpPr>
        <p:spPr>
          <a:xfrm>
            <a:off x="6095999" y="78914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E7178C-6725-453E-BA2D-1DD439D4EA0B}"/>
              </a:ext>
            </a:extLst>
          </p:cNvPr>
          <p:cNvSpPr/>
          <p:nvPr userDrawn="1"/>
        </p:nvSpPr>
        <p:spPr>
          <a:xfrm>
            <a:off x="7913858" y="5923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BB34A6-57DD-49FB-89DC-8C41701DB25C}"/>
              </a:ext>
            </a:extLst>
          </p:cNvPr>
          <p:cNvSpPr/>
          <p:nvPr userDrawn="1"/>
        </p:nvSpPr>
        <p:spPr>
          <a:xfrm>
            <a:off x="9734364" y="6857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BA22C4-517B-4B23-B875-24F49C4D65B1}"/>
              </a:ext>
            </a:extLst>
          </p:cNvPr>
          <p:cNvSpPr/>
          <p:nvPr userDrawn="1"/>
        </p:nvSpPr>
        <p:spPr>
          <a:xfrm>
            <a:off x="11254210" y="5923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6DA7FC1-7D25-46AA-AB87-D75CD289E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66812" y="1817365"/>
            <a:ext cx="9858375" cy="923330"/>
          </a:xfrm>
        </p:spPr>
        <p:txBody>
          <a:bodyPr>
            <a:spAutoFit/>
          </a:bodyPr>
          <a:lstStyle>
            <a:lvl1pPr marL="0" indent="0" algn="ctr">
              <a:buNone/>
              <a:defRPr sz="6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38C1317-96A1-48D1-89BF-4465E7E5D6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6812" y="3672085"/>
            <a:ext cx="9858375" cy="604781"/>
          </a:xfrm>
        </p:spPr>
        <p:txBody>
          <a:bodyPr>
            <a:spAutoFit/>
          </a:bodyPr>
          <a:lstStyle>
            <a:lvl1pPr marL="0" indent="0" algn="ctr">
              <a:buNone/>
              <a:defRPr sz="3600">
                <a:solidFill>
                  <a:srgbClr val="FFFF00"/>
                </a:solidFill>
                <a:latin typeface="Segoe Print" panose="020006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973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585B-09BC-41CD-9DA7-3AB79FC0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37A14-80A0-4648-9B75-1B937031A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1DF8-8C17-4C48-856E-9A750B03F53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B4F0F-FFB6-4760-8AA6-47B2342E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D29AF-2997-4943-8B46-C84657C2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DA5F-D337-4C83-ABD8-4AC31AEB6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8DD0-7CD0-4CC7-9F8E-4BF7B134A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10F9E-A124-4309-8D29-31676C59D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BE213-903A-4A9D-BBEA-750401B90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C9C80-8AD8-4F6F-AC32-27E5AFC8D0B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7A03-7B7F-4E17-9110-CEBBA8E9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BB326-1196-4DD1-9D81-864BF721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D685-6C00-4B70-89BC-B08E79CD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13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A63C-F912-44B3-84EB-4BD204FF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47DD2-91FD-401F-99BB-EFA2872D9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E14EF-84B7-4A63-8541-88A6AB4D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CC391-363B-4080-ABCC-8E6E081E72F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8A99D-7E4D-42B7-A6F9-73FC687D1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38710-308F-4F08-9B09-F9494EF8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46A3E-F4D3-4E1E-8183-CE701E831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0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128448" cy="40466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86" y="1052736"/>
            <a:ext cx="10766533" cy="5329014"/>
          </a:xfrm>
        </p:spPr>
        <p:txBody>
          <a:bodyPr/>
          <a:lstStyle>
            <a:lvl1pPr marL="266700" indent="-266700"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120000"/>
              <a:buFont typeface="Wingdings" pitchFamily="2" charset="2"/>
              <a:buChar char="§"/>
              <a:defRPr sz="2200"/>
            </a:lvl1pPr>
            <a:lvl2pPr>
              <a:spcBef>
                <a:spcPts val="0"/>
              </a:spcBef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4E55-437B-4821-8C4D-5CFDA0DA207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0512491" y="116633"/>
            <a:ext cx="1344149" cy="122413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-1440" y="404666"/>
            <a:ext cx="10129888" cy="28892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0875" y="5733258"/>
            <a:ext cx="2017184" cy="2889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Utility Text</a:t>
            </a:r>
          </a:p>
        </p:txBody>
      </p:sp>
    </p:spTree>
    <p:extLst>
      <p:ext uri="{BB962C8B-B14F-4D97-AF65-F5344CB8AC3E}">
        <p14:creationId xmlns:p14="http://schemas.microsoft.com/office/powerpoint/2010/main" val="208800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1088555" cy="40466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6533" y="6471593"/>
            <a:ext cx="685867" cy="268139"/>
          </a:xfrm>
        </p:spPr>
        <p:txBody>
          <a:bodyPr/>
          <a:lstStyle/>
          <a:p>
            <a:fld id="{6DFB4E55-437B-4821-8C4D-5CFDA0DA207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79512" y="2204866"/>
            <a:ext cx="4417385" cy="504577"/>
          </a:xfrm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3000" b="1">
                <a:latin typeface="Univers 55"/>
              </a:defRPr>
            </a:lvl1pPr>
          </a:lstStyle>
          <a:p>
            <a:pPr lvl="0"/>
            <a:r>
              <a:rPr lang="en-GB" dirty="0"/>
              <a:t>Activities One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11" y="3068962"/>
            <a:ext cx="4032448" cy="432047"/>
          </a:xfrm>
          <a:ln>
            <a:solidFill>
              <a:schemeClr val="bg1">
                <a:lumMod val="75000"/>
              </a:schemeClr>
            </a:solidFill>
            <a:prstDash val="sysDash"/>
          </a:ln>
        </p:spPr>
        <p:txBody>
          <a:bodyPr>
            <a:normAutofit/>
          </a:bodyPr>
          <a:lstStyle>
            <a:lvl1pPr marL="0" indent="0">
              <a:buNone/>
              <a:defRPr sz="2400" b="1" baseline="0">
                <a:solidFill>
                  <a:schemeClr val="tx2"/>
                </a:solidFill>
                <a:latin typeface="Univers 55"/>
              </a:defRPr>
            </a:lvl1pPr>
          </a:lstStyle>
          <a:p>
            <a:pPr lvl="0"/>
            <a:r>
              <a:rPr lang="en-GB" dirty="0"/>
              <a:t>See Workbook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299" y="3789040"/>
            <a:ext cx="2304256" cy="2365058"/>
          </a:xfrm>
          <a:prstGeom prst="rect">
            <a:avLst/>
          </a:prstGeom>
        </p:spPr>
      </p:pic>
      <p:cxnSp>
        <p:nvCxnSpPr>
          <p:cNvPr id="15" name="Elbow Connector 14"/>
          <p:cNvCxnSpPr>
            <a:stCxn id="9" idx="2"/>
            <a:endCxn id="10" idx="1"/>
          </p:cNvCxnSpPr>
          <p:nvPr userDrawn="1"/>
        </p:nvCxnSpPr>
        <p:spPr>
          <a:xfrm rot="16200000" flipH="1">
            <a:off x="4752338" y="1845309"/>
            <a:ext cx="575543" cy="2303809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0" idx="3"/>
            <a:endCxn id="13" idx="3"/>
          </p:cNvCxnSpPr>
          <p:nvPr userDrawn="1"/>
        </p:nvCxnSpPr>
        <p:spPr>
          <a:xfrm>
            <a:off x="10224459" y="3284985"/>
            <a:ext cx="864096" cy="1686585"/>
          </a:xfrm>
          <a:prstGeom prst="bentConnector3">
            <a:avLst>
              <a:gd name="adj1" fmla="val 135274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-1440" y="404666"/>
            <a:ext cx="11089995" cy="28892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09323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8562" y="1459483"/>
            <a:ext cx="7010400" cy="4741863"/>
          </a:xfrm>
        </p:spPr>
        <p:txBody>
          <a:bodyPr/>
          <a:lstStyle>
            <a:lvl1pPr marL="228600" indent="-228600">
              <a:buClr>
                <a:srgbClr val="FF0000"/>
              </a:buClr>
              <a:buFont typeface="Wingdings" panose="05000000000000000000" pitchFamily="2" charset="2"/>
              <a:buChar char="§"/>
              <a:defRPr/>
            </a:lvl1pPr>
            <a:lvl2pPr marL="444500" indent="-228600">
              <a:buFont typeface="Calibri" panose="020F0502020204030204" pitchFamily="34" charset="0"/>
              <a:buChar char=" 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5900" y="2488990"/>
            <a:ext cx="3860800" cy="1041618"/>
          </a:xfrm>
        </p:spPr>
        <p:txBody>
          <a:bodyPr tIns="108000">
            <a:spAutoFit/>
          </a:bodyPr>
          <a:lstStyle>
            <a:lvl1pPr marL="0" indent="0" algn="ctr">
              <a:buNone/>
              <a:defRPr sz="3200">
                <a:solidFill>
                  <a:srgbClr val="FF0000"/>
                </a:solidFill>
                <a:latin typeface="Bradley Hand ITC" panose="03070402050302030203" pitchFamily="66" charset="0"/>
              </a:defRPr>
            </a:lvl1pPr>
            <a:lvl2pPr>
              <a:defRPr sz="2800">
                <a:solidFill>
                  <a:srgbClr val="FF0000"/>
                </a:solidFill>
                <a:latin typeface="Bradley Hand ITC" panose="03070402050302030203" pitchFamily="66" charset="0"/>
              </a:defRPr>
            </a:lvl2pPr>
            <a:lvl3pPr>
              <a:defRPr sz="2800">
                <a:solidFill>
                  <a:srgbClr val="FF0000"/>
                </a:solidFill>
                <a:latin typeface="Bradley Hand ITC" panose="03070402050302030203" pitchFamily="66" charset="0"/>
              </a:defRPr>
            </a:lvl3pPr>
            <a:lvl4pPr>
              <a:defRPr sz="2800">
                <a:solidFill>
                  <a:srgbClr val="FF0000"/>
                </a:solidFill>
                <a:latin typeface="Bradley Hand ITC" panose="03070402050302030203" pitchFamily="66" charset="0"/>
              </a:defRPr>
            </a:lvl4pPr>
            <a:lvl5pPr>
              <a:defRPr sz="2800">
                <a:solidFill>
                  <a:srgbClr val="FF0000"/>
                </a:solidFill>
                <a:latin typeface="Bradley Hand ITC" panose="03070402050302030203" pitchFamily="66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Last updated on: 19-Nov-14</a:t>
            </a: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Confidential: All rights reserved dbrownconsulting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b="0" dirty="0">
                <a:solidFill>
                  <a:prstClr val="black">
                    <a:tint val="75000"/>
                  </a:prstClr>
                </a:solidFill>
              </a:rPr>
              <a:t>Page | </a:t>
            </a:r>
            <a:fld id="{AF7D0A3B-89D7-4174-991B-F948077BD4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73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62" y="1422401"/>
            <a:ext cx="10905238" cy="4933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771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14397"/>
            <a:ext cx="10515600" cy="701731"/>
          </a:xfrm>
        </p:spPr>
        <p:txBody>
          <a:bodyPr wrap="square" anchor="b">
            <a:sp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71612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614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>
          <a:xfrm>
            <a:off x="1160463" y="1430338"/>
            <a:ext cx="9285287" cy="4841875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45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292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3CADA26-B09A-4388-8C85-C278619A308C}"/>
              </a:ext>
            </a:extLst>
          </p:cNvPr>
          <p:cNvSpPr/>
          <p:nvPr userDrawn="1"/>
        </p:nvSpPr>
        <p:spPr>
          <a:xfrm>
            <a:off x="620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CEBF60-FE3B-4C42-AE71-4D5596E00D04}"/>
              </a:ext>
            </a:extLst>
          </p:cNvPr>
          <p:cNvSpPr/>
          <p:nvPr userDrawn="1"/>
        </p:nvSpPr>
        <p:spPr>
          <a:xfrm>
            <a:off x="132943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50257E-EDD1-4566-830D-D005694953AD}"/>
              </a:ext>
            </a:extLst>
          </p:cNvPr>
          <p:cNvSpPr/>
          <p:nvPr userDrawn="1"/>
        </p:nvSpPr>
        <p:spPr>
          <a:xfrm>
            <a:off x="25967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8644C6-CF35-4280-88DD-F10949023494}"/>
              </a:ext>
            </a:extLst>
          </p:cNvPr>
          <p:cNvSpPr/>
          <p:nvPr userDrawn="1"/>
        </p:nvSpPr>
        <p:spPr>
          <a:xfrm>
            <a:off x="386413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E7178C-6725-453E-BA2D-1DD439D4EA0B}"/>
              </a:ext>
            </a:extLst>
          </p:cNvPr>
          <p:cNvSpPr/>
          <p:nvPr userDrawn="1"/>
        </p:nvSpPr>
        <p:spPr>
          <a:xfrm>
            <a:off x="51314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BB34A6-57DD-49FB-89DC-8C41701DB25C}"/>
              </a:ext>
            </a:extLst>
          </p:cNvPr>
          <p:cNvSpPr/>
          <p:nvPr userDrawn="1"/>
        </p:nvSpPr>
        <p:spPr>
          <a:xfrm>
            <a:off x="639883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BA22C4-517B-4B23-B875-24F49C4D65B1}"/>
              </a:ext>
            </a:extLst>
          </p:cNvPr>
          <p:cNvSpPr/>
          <p:nvPr userDrawn="1"/>
        </p:nvSpPr>
        <p:spPr>
          <a:xfrm>
            <a:off x="76661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9FE94EE-46A1-4FE3-8E0F-9C54A9D9A6F0}"/>
              </a:ext>
            </a:extLst>
          </p:cNvPr>
          <p:cNvSpPr/>
          <p:nvPr userDrawn="1"/>
        </p:nvSpPr>
        <p:spPr>
          <a:xfrm>
            <a:off x="1020088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82FA98-489A-4D89-8498-2D0BA8625486}"/>
              </a:ext>
            </a:extLst>
          </p:cNvPr>
          <p:cNvSpPr/>
          <p:nvPr userDrawn="1"/>
        </p:nvSpPr>
        <p:spPr>
          <a:xfrm>
            <a:off x="11482981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A577A34-337A-493C-B99D-6578D094B474}"/>
              </a:ext>
            </a:extLst>
          </p:cNvPr>
          <p:cNvSpPr/>
          <p:nvPr userDrawn="1"/>
        </p:nvSpPr>
        <p:spPr>
          <a:xfrm>
            <a:off x="8933534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D9DE9D-BE6D-4819-B84B-561EEFAA548B}"/>
              </a:ext>
            </a:extLst>
          </p:cNvPr>
          <p:cNvSpPr txBox="1"/>
          <p:nvPr userDrawn="1"/>
        </p:nvSpPr>
        <p:spPr>
          <a:xfrm>
            <a:off x="11482981" y="62433"/>
            <a:ext cx="55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6DA7FC1-7D25-46AA-AB87-D75CD289E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66812" y="1817365"/>
            <a:ext cx="9858375" cy="923330"/>
          </a:xfrm>
        </p:spPr>
        <p:txBody>
          <a:bodyPr>
            <a:spAutoFit/>
          </a:bodyPr>
          <a:lstStyle>
            <a:lvl1pPr marL="0" indent="0" algn="ctr">
              <a:buNone/>
              <a:defRPr sz="6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38C1317-96A1-48D1-89BF-4465E7E5D6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6812" y="3672085"/>
            <a:ext cx="9858375" cy="604781"/>
          </a:xfrm>
        </p:spPr>
        <p:txBody>
          <a:bodyPr>
            <a:spAutoFit/>
          </a:bodyPr>
          <a:lstStyle>
            <a:lvl1pPr marL="0" indent="0" algn="ctr">
              <a:buNone/>
              <a:defRPr sz="3600">
                <a:solidFill>
                  <a:srgbClr val="FFFF00"/>
                </a:solidFill>
                <a:latin typeface="Segoe Print" panose="020006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321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golden">
    <p:bg>
      <p:bgPr>
        <a:solidFill>
          <a:srgbClr val="292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3CADA26-B09A-4388-8C85-C278619A308C}"/>
              </a:ext>
            </a:extLst>
          </p:cNvPr>
          <p:cNvSpPr/>
          <p:nvPr userDrawn="1"/>
        </p:nvSpPr>
        <p:spPr>
          <a:xfrm>
            <a:off x="106731" y="6917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CEBF60-FE3B-4C42-AE71-4D5596E00D04}"/>
              </a:ext>
            </a:extLst>
          </p:cNvPr>
          <p:cNvSpPr/>
          <p:nvPr userDrawn="1"/>
        </p:nvSpPr>
        <p:spPr>
          <a:xfrm>
            <a:off x="2330063" y="6857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50257E-EDD1-4566-830D-D005694953AD}"/>
              </a:ext>
            </a:extLst>
          </p:cNvPr>
          <p:cNvSpPr/>
          <p:nvPr userDrawn="1"/>
        </p:nvSpPr>
        <p:spPr>
          <a:xfrm>
            <a:off x="4276817" y="49496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8644C6-CF35-4280-88DD-F10949023494}"/>
              </a:ext>
            </a:extLst>
          </p:cNvPr>
          <p:cNvSpPr/>
          <p:nvPr userDrawn="1"/>
        </p:nvSpPr>
        <p:spPr>
          <a:xfrm>
            <a:off x="6095999" y="78914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E7178C-6725-453E-BA2D-1DD439D4EA0B}"/>
              </a:ext>
            </a:extLst>
          </p:cNvPr>
          <p:cNvSpPr/>
          <p:nvPr userDrawn="1"/>
        </p:nvSpPr>
        <p:spPr>
          <a:xfrm>
            <a:off x="7913858" y="5923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BB34A6-57DD-49FB-89DC-8C41701DB25C}"/>
              </a:ext>
            </a:extLst>
          </p:cNvPr>
          <p:cNvSpPr/>
          <p:nvPr userDrawn="1"/>
        </p:nvSpPr>
        <p:spPr>
          <a:xfrm>
            <a:off x="9734364" y="6857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BA22C4-517B-4B23-B875-24F49C4D65B1}"/>
              </a:ext>
            </a:extLst>
          </p:cNvPr>
          <p:cNvSpPr/>
          <p:nvPr userDrawn="1"/>
        </p:nvSpPr>
        <p:spPr>
          <a:xfrm>
            <a:off x="11254210" y="59235"/>
            <a:ext cx="553156" cy="48753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6DA7FC1-7D25-46AA-AB87-D75CD289E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66812" y="1817365"/>
            <a:ext cx="9858375" cy="923330"/>
          </a:xfrm>
        </p:spPr>
        <p:txBody>
          <a:bodyPr>
            <a:spAutoFit/>
          </a:bodyPr>
          <a:lstStyle>
            <a:lvl1pPr marL="0" indent="0" algn="ctr">
              <a:buNone/>
              <a:defRPr sz="6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38C1317-96A1-48D1-89BF-4465E7E5D6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6812" y="3672085"/>
            <a:ext cx="9858375" cy="604781"/>
          </a:xfrm>
        </p:spPr>
        <p:txBody>
          <a:bodyPr>
            <a:spAutoFit/>
          </a:bodyPr>
          <a:lstStyle>
            <a:lvl1pPr marL="0" indent="0" algn="ctr">
              <a:buNone/>
              <a:defRPr sz="3600">
                <a:solidFill>
                  <a:srgbClr val="FFFF00"/>
                </a:solidFill>
                <a:latin typeface="Segoe Print" panose="020006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884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585B-09BC-41CD-9DA7-3AB79FC0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37A14-80A0-4648-9B75-1B937031A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1DF8-8C17-4C48-856E-9A750B03F53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B4F0F-FFB6-4760-8AA6-47B2342E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D29AF-2997-4943-8B46-C84657C2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DA5F-D337-4C83-ABD8-4AC31AEB6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1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8DD0-7CD0-4CC7-9F8E-4BF7B134A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10F9E-A124-4309-8D29-31676C59D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BE213-903A-4A9D-BBEA-750401B90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C9C80-8AD8-4F6F-AC32-27E5AFC8D0B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7A03-7B7F-4E17-9110-CEBBA8E9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BB326-1196-4DD1-9D81-864BF721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D685-6C00-4B70-89BC-B08E79CD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9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343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A63C-F912-44B3-84EB-4BD204FF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47DD2-91FD-401F-99BB-EFA2872D9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E14EF-84B7-4A63-8541-88A6AB4D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CC391-363B-4080-ABCC-8E6E081E72F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8A99D-7E4D-42B7-A6F9-73FC687D1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38710-308F-4F08-9B09-F9494EF8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46A3E-F4D3-4E1E-8183-CE701E831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0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128448" cy="40466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86" y="1052736"/>
            <a:ext cx="10766533" cy="5329014"/>
          </a:xfrm>
        </p:spPr>
        <p:txBody>
          <a:bodyPr/>
          <a:lstStyle>
            <a:lvl1pPr marL="266700" indent="-266700"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120000"/>
              <a:buFont typeface="Wingdings" pitchFamily="2" charset="2"/>
              <a:buChar char="§"/>
              <a:defRPr sz="2200"/>
            </a:lvl1pPr>
            <a:lvl2pPr>
              <a:spcBef>
                <a:spcPts val="0"/>
              </a:spcBef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4E55-437B-4821-8C4D-5CFDA0DA207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0512491" y="116633"/>
            <a:ext cx="1344149" cy="122413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-1440" y="404666"/>
            <a:ext cx="10129888" cy="28892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0875" y="5733258"/>
            <a:ext cx="2017184" cy="2889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Utility Text</a:t>
            </a:r>
          </a:p>
        </p:txBody>
      </p:sp>
    </p:spTree>
    <p:extLst>
      <p:ext uri="{BB962C8B-B14F-4D97-AF65-F5344CB8AC3E}">
        <p14:creationId xmlns:p14="http://schemas.microsoft.com/office/powerpoint/2010/main" val="337210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1088555" cy="40466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6533" y="6471593"/>
            <a:ext cx="685867" cy="268139"/>
          </a:xfrm>
        </p:spPr>
        <p:txBody>
          <a:bodyPr/>
          <a:lstStyle/>
          <a:p>
            <a:fld id="{6DFB4E55-437B-4821-8C4D-5CFDA0DA207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79512" y="2204866"/>
            <a:ext cx="4417385" cy="504577"/>
          </a:xfrm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3000" b="1">
                <a:latin typeface="Univers 55"/>
              </a:defRPr>
            </a:lvl1pPr>
          </a:lstStyle>
          <a:p>
            <a:pPr lvl="0"/>
            <a:r>
              <a:rPr lang="en-GB" dirty="0"/>
              <a:t>Activities One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11" y="3068962"/>
            <a:ext cx="4032448" cy="432047"/>
          </a:xfrm>
          <a:ln>
            <a:solidFill>
              <a:schemeClr val="bg1">
                <a:lumMod val="75000"/>
              </a:schemeClr>
            </a:solidFill>
            <a:prstDash val="sysDash"/>
          </a:ln>
        </p:spPr>
        <p:txBody>
          <a:bodyPr>
            <a:normAutofit/>
          </a:bodyPr>
          <a:lstStyle>
            <a:lvl1pPr marL="0" indent="0">
              <a:buNone/>
              <a:defRPr sz="2400" b="1" baseline="0">
                <a:solidFill>
                  <a:schemeClr val="tx2"/>
                </a:solidFill>
                <a:latin typeface="Univers 55"/>
              </a:defRPr>
            </a:lvl1pPr>
          </a:lstStyle>
          <a:p>
            <a:pPr lvl="0"/>
            <a:r>
              <a:rPr lang="en-GB" dirty="0"/>
              <a:t>See Workbook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299" y="3789040"/>
            <a:ext cx="2304256" cy="2365058"/>
          </a:xfrm>
          <a:prstGeom prst="rect">
            <a:avLst/>
          </a:prstGeom>
        </p:spPr>
      </p:pic>
      <p:cxnSp>
        <p:nvCxnSpPr>
          <p:cNvPr id="15" name="Elbow Connector 14"/>
          <p:cNvCxnSpPr>
            <a:stCxn id="9" idx="2"/>
            <a:endCxn id="10" idx="1"/>
          </p:cNvCxnSpPr>
          <p:nvPr userDrawn="1"/>
        </p:nvCxnSpPr>
        <p:spPr>
          <a:xfrm rot="16200000" flipH="1">
            <a:off x="4752338" y="1845309"/>
            <a:ext cx="575543" cy="2303809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0" idx="3"/>
            <a:endCxn id="13" idx="3"/>
          </p:cNvCxnSpPr>
          <p:nvPr userDrawn="1"/>
        </p:nvCxnSpPr>
        <p:spPr>
          <a:xfrm>
            <a:off x="10224459" y="3284985"/>
            <a:ext cx="864096" cy="1686585"/>
          </a:xfrm>
          <a:prstGeom prst="bentConnector3">
            <a:avLst>
              <a:gd name="adj1" fmla="val 135274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-1440" y="404666"/>
            <a:ext cx="11089995" cy="28892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9132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8562" y="1459483"/>
            <a:ext cx="7010400" cy="4741863"/>
          </a:xfrm>
        </p:spPr>
        <p:txBody>
          <a:bodyPr/>
          <a:lstStyle>
            <a:lvl1pPr marL="228600" indent="-228600">
              <a:buClr>
                <a:srgbClr val="FF0000"/>
              </a:buClr>
              <a:buFont typeface="Wingdings" panose="05000000000000000000" pitchFamily="2" charset="2"/>
              <a:buChar char="§"/>
              <a:defRPr/>
            </a:lvl1pPr>
            <a:lvl2pPr marL="444500" indent="-228600">
              <a:buFont typeface="Calibri" panose="020F0502020204030204" pitchFamily="34" charset="0"/>
              <a:buChar char=" 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5900" y="2488990"/>
            <a:ext cx="3860800" cy="1041618"/>
          </a:xfrm>
        </p:spPr>
        <p:txBody>
          <a:bodyPr tIns="108000">
            <a:spAutoFit/>
          </a:bodyPr>
          <a:lstStyle>
            <a:lvl1pPr marL="0" indent="0" algn="ctr">
              <a:buNone/>
              <a:defRPr sz="3200">
                <a:solidFill>
                  <a:srgbClr val="FF0000"/>
                </a:solidFill>
                <a:latin typeface="Bradley Hand ITC" panose="03070402050302030203" pitchFamily="66" charset="0"/>
              </a:defRPr>
            </a:lvl1pPr>
            <a:lvl2pPr>
              <a:defRPr sz="2800">
                <a:solidFill>
                  <a:srgbClr val="FF0000"/>
                </a:solidFill>
                <a:latin typeface="Bradley Hand ITC" panose="03070402050302030203" pitchFamily="66" charset="0"/>
              </a:defRPr>
            </a:lvl2pPr>
            <a:lvl3pPr>
              <a:defRPr sz="2800">
                <a:solidFill>
                  <a:srgbClr val="FF0000"/>
                </a:solidFill>
                <a:latin typeface="Bradley Hand ITC" panose="03070402050302030203" pitchFamily="66" charset="0"/>
              </a:defRPr>
            </a:lvl3pPr>
            <a:lvl4pPr>
              <a:defRPr sz="2800">
                <a:solidFill>
                  <a:srgbClr val="FF0000"/>
                </a:solidFill>
                <a:latin typeface="Bradley Hand ITC" panose="03070402050302030203" pitchFamily="66" charset="0"/>
              </a:defRPr>
            </a:lvl4pPr>
            <a:lvl5pPr>
              <a:defRPr sz="2800">
                <a:solidFill>
                  <a:srgbClr val="FF0000"/>
                </a:solidFill>
                <a:latin typeface="Bradley Hand ITC" panose="03070402050302030203" pitchFamily="66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Last updated on: 19-Nov-14</a:t>
            </a: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Confidential: All rights reserved dbrownconsulting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b="0" dirty="0">
                <a:solidFill>
                  <a:prstClr val="black">
                    <a:tint val="75000"/>
                  </a:prstClr>
                </a:solidFill>
              </a:rPr>
              <a:t>Page | </a:t>
            </a:r>
            <a:fld id="{AF7D0A3B-89D7-4174-991B-F948077BD4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8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499AC4-F6ED-B21A-0AA7-750FD34D723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6600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Analytics Corper Workshop 5.0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6F390-59A8-1205-48D6-7CC4709BBBA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alphaModFix amt="75000"/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000" b="98000" l="10000" r="94000">
                        <a14:foregroundMark x1="71333" y1="6667" x2="71333" y2="6667"/>
                        <a14:foregroundMark x1="68667" y1="6000" x2="71333" y2="5333"/>
                        <a14:foregroundMark x1="68667" y1="7667" x2="67000" y2="7667"/>
                        <a14:foregroundMark x1="68333" y1="8000" x2="67333" y2="10000"/>
                        <a14:foregroundMark x1="74000" y1="9667" x2="75000" y2="13000"/>
                        <a14:foregroundMark x1="52333" y1="19000" x2="54000" y2="29000"/>
                        <a14:foregroundMark x1="75000" y1="27667" x2="71333" y2="30000"/>
                        <a14:foregroundMark x1="69333" y1="28333" x2="62667" y2="34667"/>
                        <a14:foregroundMark x1="66000" y1="40333" x2="56667" y2="53667"/>
                        <a14:foregroundMark x1="56667" y1="53667" x2="56000" y2="56333"/>
                        <a14:foregroundMark x1="56667" y1="88667" x2="57333" y2="92000"/>
                        <a14:foregroundMark x1="74000" y1="43000" x2="73000" y2="98000"/>
                        <a14:foregroundMark x1="88000" y1="59000" x2="89333" y2="68333"/>
                        <a14:foregroundMark x1="81000" y1="31667" x2="65000" y2="42333"/>
                        <a14:foregroundMark x1="79000" y1="32333" x2="78000" y2="25333"/>
                        <a14:foregroundMark x1="84000" y1="39333" x2="84000" y2="39333"/>
                        <a14:foregroundMark x1="50667" y1="44000" x2="51000" y2="54667"/>
                        <a14:foregroundMark x1="49667" y1="37333" x2="49333" y2="42333"/>
                        <a14:foregroundMark x1="94000" y1="73333" x2="93667" y2="74333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2283" y="3494"/>
            <a:ext cx="658483" cy="76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9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" y="874909"/>
            <a:ext cx="12192001" cy="560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" y="114289"/>
            <a:ext cx="12192001" cy="64633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14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1pPr>
      <a:lvl2pPr marL="2159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2pPr>
      <a:lvl3pPr marL="5842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3pPr>
      <a:lvl4pPr marL="8509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4pPr>
      <a:lvl5pPr marL="11176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" y="874909"/>
            <a:ext cx="12192001" cy="560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" y="114289"/>
            <a:ext cx="12192001" cy="64633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839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1pPr>
      <a:lvl2pPr marL="2159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2pPr>
      <a:lvl3pPr marL="5842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3pPr>
      <a:lvl4pPr marL="8509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4pPr>
      <a:lvl5pPr marL="11176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6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krishna_Pande/mastering-sql-window-functions-a-deep-dive-into-rows-between-unbounded-and-more-2907e020ed9b" TargetMode="External"/><Relationship Id="rId2" Type="http://schemas.openxmlformats.org/officeDocument/2006/relationships/hyperlink" Target="https://www.youtube.com/shorts/ClgKMq5_WW4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2.jpg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39" y="1362269"/>
            <a:ext cx="5291621" cy="2809815"/>
          </a:xfrm>
        </p:spPr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Your Data Career Starts Here: Workshop 5.0 Kickoff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73375" y="4172084"/>
            <a:ext cx="4174282" cy="760288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Oyelaran Paul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1200" i="1" dirty="0">
                <a:solidFill>
                  <a:schemeClr val="bg2">
                    <a:lumMod val="10000"/>
                  </a:schemeClr>
                </a:solidFill>
              </a:rPr>
              <a:t>Business Data Analyst</a:t>
            </a:r>
            <a:endParaRPr lang="en-US" i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t="379" b="379"/>
          <a:stretch/>
        </p:blipFill>
        <p:spPr>
          <a:xfrm>
            <a:off x="6024078" y="386307"/>
            <a:ext cx="5291621" cy="6085385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Ground Rules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48064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Page | </a:t>
            </a:r>
            <a:fld id="{AF7D0A3B-89D7-4174-991B-F948077BD445}" type="slidenum">
              <a:rPr lang="en-GB" smtClean="0">
                <a:solidFill>
                  <a:schemeClr val="bg1"/>
                </a:solidFill>
              </a:rPr>
              <a:pPr/>
              <a:t>2</a:t>
            </a:fld>
            <a:endParaRPr lang="en-GB">
              <a:solidFill>
                <a:schemeClr val="bg1"/>
              </a:solidFill>
            </a:endParaRP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E62A2669-C9C4-43A6-B070-EBF8ED45496C}"/>
              </a:ext>
            </a:extLst>
          </p:cNvPr>
          <p:cNvGraphicFramePr/>
          <p:nvPr/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4961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3DC21138-4D26-1B96-6B68-7D53BFF7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29" y="694618"/>
            <a:ext cx="3775428" cy="690084"/>
          </a:xfrm>
        </p:spPr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Oyelaran Paul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E5A189A7-D73B-9E84-15EE-DEE8F2E9F9C3}"/>
              </a:ext>
            </a:extLst>
          </p:cNvPr>
          <p:cNvSpPr txBox="1">
            <a:spLocks/>
          </p:cNvSpPr>
          <p:nvPr/>
        </p:nvSpPr>
        <p:spPr>
          <a:xfrm>
            <a:off x="372029" y="1138434"/>
            <a:ext cx="5346653" cy="690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2">
                    <a:lumMod val="50000"/>
                  </a:schemeClr>
                </a:solidFill>
              </a:rPr>
              <a:t>Business Data Analyst</a:t>
            </a:r>
            <a:endParaRPr lang="en-US" sz="14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E09E71E-EE17-4A80-D98A-5E1E12C5A1C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2029" y="1630969"/>
            <a:ext cx="5800171" cy="4677551"/>
          </a:xfrm>
        </p:spPr>
        <p:txBody>
          <a:bodyPr/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</a:rPr>
              <a:t>Professional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4+ years of active work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Worked in the supply chain sector and currently in a manufacturing company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A recent MBA graduate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A graduate of </a:t>
            </a:r>
            <a:r>
              <a:rPr lang="en-US" sz="1100" dirty="0" err="1">
                <a:solidFill>
                  <a:srgbClr val="000000"/>
                </a:solidFill>
                <a:latin typeface="Segoe UI" panose="020B0502040204020203" pitchFamily="34" charset="0"/>
              </a:rPr>
              <a:t>Tekedia</a:t>
            </a: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 Institute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latin typeface="Segoe UI" panose="020B0502040204020203" pitchFamily="34" charset="0"/>
              </a:rPr>
              <a:t>A YIL Fellow</a:t>
            </a:r>
            <a:endParaRPr lang="en-US" sz="11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Deployed 3+ of business automation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Led a team to </a:t>
            </a:r>
            <a:r>
              <a:rPr lang="en-US" sz="1100" dirty="0" err="1">
                <a:solidFill>
                  <a:srgbClr val="000000"/>
                </a:solidFill>
                <a:latin typeface="Segoe UI" panose="020B0502040204020203" pitchFamily="34" charset="0"/>
              </a:rPr>
              <a:t>organise</a:t>
            </a: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 a tech bootcamp for secondary schools in Oyo State with approval from the Ministry of 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Led a team to </a:t>
            </a:r>
            <a:r>
              <a:rPr lang="en-US" sz="1100" dirty="0" err="1">
                <a:solidFill>
                  <a:srgbClr val="000000"/>
                </a:solidFill>
                <a:latin typeface="Segoe UI" panose="020B0502040204020203" pitchFamily="34" charset="0"/>
              </a:rPr>
              <a:t>organise</a:t>
            </a: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 a 3-month data analytics bootcamp for business professionals for 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Trained over 4000 participants globally.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Graduate of the YF and DBO mentorship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Passionate about impacting lives and helping others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anose="020B0502040204020203" pitchFamily="34" charset="0"/>
              </a:rPr>
              <a:t>Dec 26 is always a great day to reach out to homes in Oyo State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4955D0-374D-4AC9-1C17-BB3E56459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349" y="419998"/>
            <a:ext cx="5346652" cy="568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82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48840"/>
            <a:ext cx="10360152" cy="1828800"/>
          </a:xfrm>
        </p:spPr>
        <p:txBody>
          <a:bodyPr wrap="square"/>
          <a:lstStyle/>
          <a:p>
            <a:pPr algn="ctr"/>
            <a:r>
              <a:rPr sz="1500" b="1" i="0" dirty="0">
                <a:solidFill>
                  <a:srgbClr val="A5644E"/>
                </a:solidFill>
                <a:latin typeface="+mn-lt"/>
              </a:rPr>
              <a:t>A BEGINNER'S COURSE</a:t>
            </a:r>
          </a:p>
          <a:p>
            <a:pPr algn="ctr">
              <a:spcBef>
                <a:spcPts val="800"/>
              </a:spcBef>
            </a:pPr>
            <a:r>
              <a:rPr sz="3400" b="1" i="0" dirty="0">
                <a:solidFill>
                  <a:srgbClr val="C17529"/>
                </a:solidFill>
                <a:latin typeface="+mj-lt"/>
              </a:rPr>
              <a:t>Introduction to SQL JOIN &amp; Window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703320"/>
            <a:ext cx="1828800" cy="38100"/>
          </a:xfrm>
          <a:prstGeom prst="rect">
            <a:avLst/>
          </a:prstGeom>
          <a:solidFill>
            <a:srgbClr val="A56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84248" y="3977639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E3B30"/>
                </a:solidFill>
                <a:latin typeface="+mn-lt"/>
              </a:rPr>
              <a:t>From relational database fundamentals to advanced querying — everything you need to start writing SQL with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5212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17529"/>
                </a:solidFill>
                <a:latin typeface="+mn-lt"/>
              </a:rPr>
              <a:t>Oyelaran Paul Temitope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778296"/>
            <a:ext cx="10515600" cy="1115434"/>
          </a:xfrm>
        </p:spPr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COMBINING TABLES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SQL Joins: The Big Picture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2697480"/>
            <a:ext cx="384048" cy="384048"/>
          </a:xfrm>
          <a:prstGeom prst="ellipse">
            <a:avLst/>
          </a:prstGeom>
          <a:solidFill>
            <a:srgbClr val="C17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" y="267004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E3B30"/>
                </a:solidFill>
                <a:latin typeface="+mn-lt"/>
              </a:rPr>
              <a:t>Why joins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3200400"/>
            <a:ext cx="3459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In a relational database, data lives across many tables. Joins pull related rows together into one meaningful result set.</a:t>
            </a:r>
          </a:p>
        </p:txBody>
      </p:sp>
      <p:sp>
        <p:nvSpPr>
          <p:cNvPr id="6" name="Oval 5"/>
          <p:cNvSpPr/>
          <p:nvPr/>
        </p:nvSpPr>
        <p:spPr>
          <a:xfrm>
            <a:off x="4364736" y="2697480"/>
            <a:ext cx="384048" cy="384048"/>
          </a:xfrm>
          <a:prstGeom prst="ellipse">
            <a:avLst/>
          </a:prstGeom>
          <a:solidFill>
            <a:srgbClr val="A56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85944" y="267004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Four main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4736" y="3200400"/>
            <a:ext cx="3459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rgbClr val="4E3B30"/>
                </a:solidFill>
                <a:latin typeface="+mn-lt"/>
              </a:rPr>
              <a:t>INNER, LEFT, RIGHT, and FULL OUTER — each controls which unmatched rows to keep or drop.</a:t>
            </a:r>
          </a:p>
        </p:txBody>
      </p:sp>
      <p:sp>
        <p:nvSpPr>
          <p:cNvPr id="9" name="Oval 8"/>
          <p:cNvSpPr/>
          <p:nvPr/>
        </p:nvSpPr>
        <p:spPr>
          <a:xfrm>
            <a:off x="8144256" y="2697480"/>
            <a:ext cx="384048" cy="384048"/>
          </a:xfrm>
          <a:prstGeom prst="ellipse">
            <a:avLst/>
          </a:prstGeom>
          <a:solidFill>
            <a:srgbClr val="B5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5464" y="267004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The 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4256" y="3200400"/>
            <a:ext cx="3459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rgbClr val="4E3B30"/>
                </a:solidFill>
                <a:latin typeface="+mn-lt"/>
              </a:rPr>
              <a:t>Every join connects tables using a shared column — usually a primary key in one table and a matching foreign key in another.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MATCHING ROWS ONLY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INNER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6740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Returns only the rows that have a match in both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527048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SELECT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product_name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category_name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brand_name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list_price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FROM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production.products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 p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INNER JOIN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production.categories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 c ON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c.category_id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 =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p.category_id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INNER JOIN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production.brands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 b ON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b.brand_id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 =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p.brand_id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ORDER BY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product_name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 DESC;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KEEPING UNMATCHED ROWS</a:t>
            </a:r>
          </a:p>
          <a:p>
            <a:pPr algn="l">
              <a:spcBef>
                <a:spcPts val="400"/>
              </a:spcBef>
            </a:pPr>
            <a:r>
              <a:rPr sz="2700" b="1" dirty="0">
                <a:solidFill>
                  <a:srgbClr val="C17529"/>
                </a:solidFill>
                <a:latin typeface="+mj-lt"/>
              </a:rPr>
              <a:t>LEFT JOIN vs RIGHT JOIN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5216" y="1783080"/>
            <a:ext cx="5326380" cy="502920"/>
          </a:xfrm>
          <a:prstGeom prst="roundRect">
            <a:avLst>
              <a:gd name="adj" fmla="val 15000"/>
            </a:avLst>
          </a:prstGeom>
          <a:solidFill>
            <a:srgbClr val="66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+mn-lt"/>
              </a:rPr>
              <a:t>LEFT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2423160"/>
            <a:ext cx="53263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Keeps all rows from the left table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Matches rows from the right where they exist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Unmatched right-side columns become NULL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'OUTER' is optional: LEFT (OUTER) JOIN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7356" y="1783080"/>
            <a:ext cx="5326380" cy="502920"/>
          </a:xfrm>
          <a:prstGeom prst="roundRect">
            <a:avLst>
              <a:gd name="adj" fmla="val 15000"/>
            </a:avLst>
          </a:prstGeom>
          <a:solidFill>
            <a:srgbClr val="A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+mn-lt"/>
              </a:rPr>
              <a:t>RIGHT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7356" y="2423160"/>
            <a:ext cx="53263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Keeps all rows from the right table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Matches rows from the left where they exist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Unmatched left-side columns become NULL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The mirror image of a LEFT JOIN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KEEPING EVERYTHING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FULL OUTER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Returns all rows from both tables. Where there's no match on either side, the missing columns are filled with NULL.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280160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SELECT columns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FROM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first_table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FULL JOIN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second_table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ON first_table.id = second_table.id;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3931920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 dirty="0">
                <a:solidFill>
                  <a:srgbClr val="A5644E"/>
                </a:solidFill>
                <a:latin typeface="+mn-lt"/>
              </a:rPr>
              <a:t>Tip: add WHERE first_table.id IS NULL OR second_table.id IS NULL to find only the unmatched rows.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SET OPERATIONS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UNION, UNION ALL &amp; INTERSECT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2446020"/>
            <a:ext cx="384048" cy="384048"/>
          </a:xfrm>
          <a:prstGeom prst="ellipse">
            <a:avLst/>
          </a:prstGeom>
          <a:solidFill>
            <a:srgbClr val="C17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" y="241858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UNION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9489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rgbClr val="4E3B30"/>
                </a:solidFill>
                <a:latin typeface="+mn-lt"/>
              </a:rPr>
              <a:t>Combines the results of two SELECT statements into one result set and removes duplicate rows. Both queries need the same number and type of columns.</a:t>
            </a:r>
          </a:p>
        </p:txBody>
      </p:sp>
      <p:sp>
        <p:nvSpPr>
          <p:cNvPr id="6" name="Oval 5"/>
          <p:cNvSpPr/>
          <p:nvPr/>
        </p:nvSpPr>
        <p:spPr>
          <a:xfrm>
            <a:off x="6254496" y="2446020"/>
            <a:ext cx="384048" cy="384048"/>
          </a:xfrm>
          <a:prstGeom prst="ellipse">
            <a:avLst/>
          </a:prstGeom>
          <a:solidFill>
            <a:srgbClr val="A56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5704" y="2446020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UNION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9489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Same as UNION, but keeps every duplicate row instead of removing them.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4183380"/>
            <a:ext cx="384048" cy="384048"/>
          </a:xfrm>
          <a:prstGeom prst="ellipse">
            <a:avLst/>
          </a:prstGeom>
          <a:solidFill>
            <a:srgbClr val="B5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415594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E3B30"/>
                </a:solidFill>
                <a:latin typeface="+mn-lt"/>
              </a:rPr>
              <a:t>INTERSECT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68630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Returns only the distinct rows that appear in both queries' results.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4183380"/>
            <a:ext cx="384048" cy="384048"/>
          </a:xfrm>
          <a:prstGeom prst="ellipse">
            <a:avLst/>
          </a:prstGeom>
          <a:solidFill>
            <a:srgbClr val="C39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5704" y="415594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UNION vs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468630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rgbClr val="4E3B30"/>
                </a:solidFill>
                <a:latin typeface="+mn-lt"/>
              </a:rPr>
              <a:t>A JOIN combines columns from two tables side by side (horizontally). A UNION stacks rows from two queries on top of each other (vertically).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48840"/>
            <a:ext cx="10360152" cy="1828800"/>
          </a:xfrm>
        </p:spPr>
        <p:txBody>
          <a:bodyPr wrap="square"/>
          <a:lstStyle/>
          <a:p>
            <a:pPr algn="ctr"/>
            <a:r>
              <a:rPr sz="1500" b="1" i="0">
                <a:solidFill>
                  <a:srgbClr val="A5644E"/>
                </a:solidFill>
                <a:latin typeface="+mn-lt"/>
              </a:rPr>
              <a:t>SECTION 2 / 2</a:t>
            </a:r>
          </a:p>
          <a:p>
            <a:pPr algn="ctr">
              <a:spcBef>
                <a:spcPts val="800"/>
              </a:spcBef>
            </a:pPr>
            <a:r>
              <a:rPr sz="3400" b="1" i="0">
                <a:solidFill>
                  <a:srgbClr val="C17529"/>
                </a:solidFill>
                <a:latin typeface="+mj-lt"/>
              </a:rPr>
              <a:t>Window Functions in SQL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703320"/>
            <a:ext cx="1828800" cy="38100"/>
          </a:xfrm>
          <a:prstGeom prst="rect">
            <a:avLst/>
          </a:prstGeom>
          <a:solidFill>
            <a:srgbClr val="A56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84248" y="3977639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4E3B30"/>
                </a:solidFill>
                <a:latin typeface="+mn-lt"/>
              </a:rPr>
              <a:t>Calculations across a set of related rows — without collapsing them into a single result, the way GROUP BY does.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GETTING STARTED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What is a Window Function?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524253"/>
            <a:ext cx="1101852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A window function performs a calculation across a set of rows related to the current row — its 'window' — while returning a value for every individual row, not just one row per group.</a:t>
            </a:r>
            <a:r>
              <a:rPr lang="en-US" sz="1450" dirty="0">
                <a:solidFill>
                  <a:srgbClr val="4E3B30"/>
                </a:solidFill>
              </a:rPr>
              <a:t> It performs calculations (e.g. aggregation)on a specific subset of data, without losing the level of detail of rows.</a:t>
            </a:r>
            <a:endParaRPr sz="1450" b="0" i="0" dirty="0">
              <a:solidFill>
                <a:srgbClr val="4E3B30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930C-1C2A-4963-1695-B0EE8F33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Key Terms in Window Function</a:t>
            </a:r>
            <a:endParaRPr lang="en-NG" sz="3600" dirty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21F72E1-8048-C77F-5202-0C292F4AA529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00731" y="1351121"/>
            <a:ext cx="10889796" cy="4155757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NG" sz="1250" b="1" i="1" dirty="0">
                <a:solidFill>
                  <a:srgbClr val="A5644E"/>
                </a:solidFill>
              </a:rPr>
              <a:t>A </a:t>
            </a:r>
            <a:r>
              <a:rPr lang="en-US" sz="1250" b="1" i="1" dirty="0">
                <a:solidFill>
                  <a:srgbClr val="A5644E"/>
                </a:solidFill>
              </a:rPr>
              <a:t>PARTITION:</a:t>
            </a:r>
            <a:r>
              <a:rPr lang="en-NG" sz="1250" b="1" i="1" dirty="0">
                <a:solidFill>
                  <a:srgbClr val="A5644E"/>
                </a:solidFill>
              </a:rPr>
              <a:t> </a:t>
            </a:r>
            <a:r>
              <a:rPr lang="en-NG" sz="1250" i="1" dirty="0">
                <a:solidFill>
                  <a:srgbClr val="A5644E"/>
                </a:solidFill>
              </a:rPr>
              <a:t>in a SQL window function is a subset of rows divided from the main result set using the PARTITION BY clause</a:t>
            </a:r>
            <a:endParaRPr lang="en-US" sz="1250" i="1" dirty="0">
              <a:solidFill>
                <a:srgbClr val="A5644E"/>
              </a:solidFill>
            </a:endParaRPr>
          </a:p>
          <a:p>
            <a:pPr algn="just">
              <a:lnSpc>
                <a:spcPct val="200000"/>
              </a:lnSpc>
            </a:pPr>
            <a:r>
              <a:rPr lang="en-US" sz="1250" b="1" i="1" dirty="0">
                <a:solidFill>
                  <a:srgbClr val="A5644E"/>
                </a:solidFill>
              </a:rPr>
              <a:t>An O</a:t>
            </a:r>
            <a:r>
              <a:rPr lang="en-NG" sz="1250" b="1" i="1" dirty="0">
                <a:solidFill>
                  <a:srgbClr val="A5644E"/>
                </a:solidFill>
              </a:rPr>
              <a:t>VER</a:t>
            </a:r>
            <a:r>
              <a:rPr lang="en-US" sz="1250" b="1" i="1" dirty="0">
                <a:solidFill>
                  <a:srgbClr val="A5644E"/>
                </a:solidFill>
              </a:rPr>
              <a:t>:</a:t>
            </a:r>
            <a:r>
              <a:rPr lang="en-NG" sz="1250" b="1" i="1" dirty="0">
                <a:solidFill>
                  <a:srgbClr val="A5644E"/>
                </a:solidFill>
              </a:rPr>
              <a:t> </a:t>
            </a:r>
            <a:r>
              <a:rPr lang="en-NG" sz="1250" i="1" dirty="0">
                <a:solidFill>
                  <a:srgbClr val="A5644E"/>
                </a:solidFill>
              </a:rPr>
              <a:t>clause is the keyword that transforms a standard function into a window </a:t>
            </a:r>
            <a:r>
              <a:rPr lang="en-NG" sz="1250" i="1" dirty="0" err="1">
                <a:solidFill>
                  <a:srgbClr val="A5644E"/>
                </a:solidFill>
              </a:rPr>
              <a:t>functi</a:t>
            </a:r>
            <a:r>
              <a:rPr lang="en-US" sz="1250" i="1" dirty="0">
                <a:solidFill>
                  <a:srgbClr val="A5644E"/>
                </a:solidFill>
              </a:rPr>
              <a:t>on</a:t>
            </a:r>
          </a:p>
          <a:p>
            <a:pPr algn="just">
              <a:lnSpc>
                <a:spcPct val="200000"/>
              </a:lnSpc>
            </a:pPr>
            <a:r>
              <a:rPr lang="en-US" sz="1250" b="1" i="1" dirty="0">
                <a:solidFill>
                  <a:srgbClr val="A5644E"/>
                </a:solidFill>
              </a:rPr>
              <a:t>An ORDER BY:</a:t>
            </a:r>
            <a:r>
              <a:rPr lang="en-US" sz="1250" i="1" dirty="0">
                <a:solidFill>
                  <a:srgbClr val="A5644E"/>
                </a:solidFill>
              </a:rPr>
              <a:t> A clause inside OVER() that sorts the rows inside each partition</a:t>
            </a:r>
          </a:p>
          <a:p>
            <a:pPr algn="just">
              <a:lnSpc>
                <a:spcPct val="200000"/>
              </a:lnSpc>
            </a:pPr>
            <a:r>
              <a:rPr lang="en-NG" sz="1250" b="1" i="1" dirty="0">
                <a:solidFill>
                  <a:srgbClr val="A5644E"/>
                </a:solidFill>
              </a:rPr>
              <a:t>ROWS: </a:t>
            </a:r>
            <a:r>
              <a:rPr lang="en-NG" sz="1250" i="1" dirty="0">
                <a:solidFill>
                  <a:srgbClr val="A5644E"/>
                </a:solidFill>
              </a:rPr>
              <a:t>Tells the database to define the window frame using physical row counts rather than logical values.</a:t>
            </a:r>
            <a:endParaRPr lang="en-US" sz="1250" i="1" dirty="0">
              <a:solidFill>
                <a:srgbClr val="A5644E"/>
              </a:solidFill>
            </a:endParaRPr>
          </a:p>
          <a:p>
            <a:pPr algn="just">
              <a:lnSpc>
                <a:spcPct val="200000"/>
              </a:lnSpc>
            </a:pPr>
            <a:r>
              <a:rPr lang="en-NG" sz="1250" b="1" i="1" dirty="0">
                <a:solidFill>
                  <a:srgbClr val="A5644E"/>
                </a:solidFill>
              </a:rPr>
              <a:t>BETWEEN ... AND ...: </a:t>
            </a:r>
            <a:r>
              <a:rPr lang="en-NG" sz="1250" i="1" dirty="0">
                <a:solidFill>
                  <a:srgbClr val="A5644E"/>
                </a:solidFill>
              </a:rPr>
              <a:t>Specifies the starting and ending boundaries of the window frame.</a:t>
            </a:r>
            <a:endParaRPr lang="en-US" sz="1250" i="1" dirty="0">
              <a:solidFill>
                <a:srgbClr val="A5644E"/>
              </a:solidFill>
            </a:endParaRPr>
          </a:p>
          <a:p>
            <a:pPr algn="just">
              <a:lnSpc>
                <a:spcPct val="200000"/>
              </a:lnSpc>
            </a:pPr>
            <a:r>
              <a:rPr lang="en-NG" sz="1250" b="1" i="1" dirty="0">
                <a:solidFill>
                  <a:srgbClr val="A5644E"/>
                </a:solidFill>
              </a:rPr>
              <a:t>UNBOUNDED PRECEDING: </a:t>
            </a:r>
            <a:r>
              <a:rPr lang="en-NG" sz="1250" i="1" dirty="0">
                <a:solidFill>
                  <a:srgbClr val="A5644E"/>
                </a:solidFill>
              </a:rPr>
              <a:t>Means the frame starts at the very first row of the partition.</a:t>
            </a:r>
            <a:endParaRPr lang="en-US" sz="1250" i="1" dirty="0">
              <a:solidFill>
                <a:srgbClr val="A5644E"/>
              </a:solidFill>
            </a:endParaRPr>
          </a:p>
          <a:p>
            <a:pPr algn="just">
              <a:lnSpc>
                <a:spcPct val="200000"/>
              </a:lnSpc>
            </a:pPr>
            <a:r>
              <a:rPr lang="en-NG" sz="1250" b="1" i="1" dirty="0">
                <a:solidFill>
                  <a:srgbClr val="A5644E"/>
                </a:solidFill>
              </a:rPr>
              <a:t>UNBOUNDED FOLLOWING: </a:t>
            </a:r>
            <a:r>
              <a:rPr lang="en-NG" sz="1250" i="1" dirty="0">
                <a:solidFill>
                  <a:srgbClr val="A5644E"/>
                </a:solidFill>
              </a:rPr>
              <a:t>Means the frame ends at the very last row of the partition. [</a:t>
            </a:r>
            <a:r>
              <a:rPr lang="en-NG" sz="1250" i="1" dirty="0">
                <a:solidFill>
                  <a:srgbClr val="A5644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en-NG" sz="1250" i="1" dirty="0">
                <a:solidFill>
                  <a:srgbClr val="A5644E"/>
                </a:solidFill>
              </a:rPr>
              <a:t>, </a:t>
            </a:r>
            <a:r>
              <a:rPr lang="en-NG" sz="1250" i="1" dirty="0">
                <a:solidFill>
                  <a:srgbClr val="A5644E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en-NG" sz="1250" i="1" dirty="0">
                <a:solidFill>
                  <a:srgbClr val="A5644E"/>
                </a:solidFill>
              </a:rPr>
              <a:t>]</a:t>
            </a:r>
            <a:endParaRPr lang="en-US" sz="1250" i="1" dirty="0">
              <a:solidFill>
                <a:srgbClr val="A5644E"/>
              </a:solidFill>
            </a:endParaRPr>
          </a:p>
          <a:p>
            <a:pPr algn="just">
              <a:lnSpc>
                <a:spcPct val="200000"/>
              </a:lnSpc>
            </a:pPr>
            <a:endParaRPr lang="en-US" i="1" dirty="0">
              <a:solidFill>
                <a:srgbClr val="A5644E"/>
              </a:solidFill>
            </a:endParaRPr>
          </a:p>
          <a:p>
            <a:pPr algn="just">
              <a:lnSpc>
                <a:spcPct val="200000"/>
              </a:lnSpc>
            </a:pPr>
            <a:endParaRPr lang="en-US" i="1" dirty="0">
              <a:solidFill>
                <a:srgbClr val="A5644E"/>
              </a:solidFill>
            </a:endParaRPr>
          </a:p>
          <a:p>
            <a:endParaRPr lang="en-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B7F12-A9C0-EB3D-5FC5-3CB81A746B1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11719-8662-C50E-6A16-991D265730B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231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A COMMON POINT OF CONFUSION</a:t>
            </a:r>
          </a:p>
          <a:p>
            <a:pPr algn="l">
              <a:spcBef>
                <a:spcPts val="400"/>
              </a:spcBef>
            </a:pPr>
            <a:r>
              <a:rPr sz="2700" b="1" dirty="0">
                <a:solidFill>
                  <a:srgbClr val="C17529"/>
                </a:solidFill>
                <a:latin typeface="+mj-lt"/>
              </a:rPr>
              <a:t>Window Function vs. GROUP BY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5216" y="1783080"/>
            <a:ext cx="5326380" cy="502920"/>
          </a:xfrm>
          <a:prstGeom prst="roundRect">
            <a:avLst>
              <a:gd name="adj" fmla="val 15000"/>
            </a:avLst>
          </a:prstGeom>
          <a:solidFill>
            <a:srgbClr val="66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+mn-lt"/>
              </a:rPr>
              <a:t>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2423160"/>
            <a:ext cx="53263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Collapses rows into one row per group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Detail rows are lost from the output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Aggregate goes in SELECT or HAVING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SELECT dept, AVG(salary) ... GROUP BY dept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7356" y="1783080"/>
            <a:ext cx="5326380" cy="502920"/>
          </a:xfrm>
          <a:prstGeom prst="roundRect">
            <a:avLst>
              <a:gd name="adj" fmla="val 15000"/>
            </a:avLst>
          </a:prstGeom>
          <a:solidFill>
            <a:srgbClr val="A56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+mn-lt"/>
              </a:rPr>
              <a:t>Window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7356" y="2423160"/>
            <a:ext cx="53263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Keeps every original row intact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Calculation sits alongside the detail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Uses OVER() instead of GROUP BY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4E3B30"/>
                </a:solidFill>
                <a:latin typeface="+mn-lt"/>
              </a:rPr>
              <a:t>•  SELECT *, AVG(salary) OVER (PARTITION BY dept)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6EE2-4387-5AEF-F98C-477774D5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5831180D-3ECF-C00C-EB4A-843BB4BA5B99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2AD89-DE80-ECCD-F67B-4A89F136C40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93556-FE4C-02D3-38BA-0BEC6E1A288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3B753C-18D1-1FC4-16C0-C12276BA9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9" y="637792"/>
            <a:ext cx="5309276" cy="43715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E95467-579F-97EA-73FE-34CEA418D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631" y="530595"/>
            <a:ext cx="4245194" cy="4475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69275C-49F1-8495-8F30-EB53C48B8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949" y="498497"/>
            <a:ext cx="1271097" cy="58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396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33A7-B3C7-0288-5F53-9F8D3DFBA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WINDOW FUNCTION CATEGORIES</a:t>
            </a:r>
            <a:endParaRPr lang="en-NG" sz="3200" dirty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0D2DE-7F45-1C1D-13EE-E821D036EBE7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2818E-2E56-67FD-A27B-305BD167780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B7EE7-2936-1DF7-3184-6786AC6E573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5B5A67-9BDF-3C93-E2C6-64649C612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3" y="1923552"/>
            <a:ext cx="3957410" cy="20130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01938E-0677-E2D5-1166-BFF330F12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35" y="1949577"/>
            <a:ext cx="3249424" cy="1960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4F93BD-433F-4068-C09C-0A845CE7D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530" y="1923552"/>
            <a:ext cx="3181638" cy="19017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28DE6F-3858-3A09-70B6-58867B15046D}"/>
              </a:ext>
            </a:extLst>
          </p:cNvPr>
          <p:cNvSpPr/>
          <p:nvPr/>
        </p:nvSpPr>
        <p:spPr>
          <a:xfrm>
            <a:off x="9190495" y="3510366"/>
            <a:ext cx="542441" cy="209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A24E2-4BFD-6C84-1A0D-9370A7C518EF}"/>
              </a:ext>
            </a:extLst>
          </p:cNvPr>
          <p:cNvSpPr txBox="1"/>
          <p:nvPr/>
        </p:nvSpPr>
        <p:spPr>
          <a:xfrm>
            <a:off x="8907651" y="3430313"/>
            <a:ext cx="1030638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600" b="1" dirty="0">
                <a:solidFill>
                  <a:srgbClr val="0000C8"/>
                </a:solidFill>
                <a:latin typeface="Bookman Old Style" panose="02050604050505020204" pitchFamily="18" charset="0"/>
                <a:ea typeface="微软雅黑"/>
                <a:cs typeface="Times New Roman" panose="02020603050405020304" pitchFamily="18" charset="0"/>
              </a:rPr>
              <a:t>LAST</a:t>
            </a:r>
            <a:endParaRPr lang="en-NG" sz="1600" b="1" dirty="0">
              <a:solidFill>
                <a:srgbClr val="0000C8"/>
              </a:solidFill>
              <a:latin typeface="Bookman Old Style" panose="020506040505050202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906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CATEGORY 1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Aggregate Window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A5644E"/>
                </a:solidFill>
                <a:latin typeface="+mn-lt"/>
              </a:rPr>
              <a:t>SUM() · AVG() · COUNT() · MAX() · MIN()</a:t>
            </a:r>
          </a:p>
        </p:txBody>
      </p:sp>
      <p:sp>
        <p:nvSpPr>
          <p:cNvPr id="4" name="Oval 3"/>
          <p:cNvSpPr/>
          <p:nvPr/>
        </p:nvSpPr>
        <p:spPr>
          <a:xfrm>
            <a:off x="585216" y="3200400"/>
            <a:ext cx="384048" cy="384048"/>
          </a:xfrm>
          <a:prstGeom prst="ellipse">
            <a:avLst/>
          </a:prstGeom>
          <a:solidFill>
            <a:srgbClr val="C17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7296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The same functions, new powers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703320"/>
            <a:ext cx="34594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The same aggregate functions you already know from GROUP BY — now calculating over a window while every row stays visible.</a:t>
            </a:r>
          </a:p>
        </p:txBody>
      </p:sp>
      <p:sp>
        <p:nvSpPr>
          <p:cNvPr id="7" name="Oval 6"/>
          <p:cNvSpPr/>
          <p:nvPr/>
        </p:nvSpPr>
        <p:spPr>
          <a:xfrm>
            <a:off x="4364736" y="3200400"/>
            <a:ext cx="384048" cy="384048"/>
          </a:xfrm>
          <a:prstGeom prst="ellipse">
            <a:avLst/>
          </a:prstGeom>
          <a:solidFill>
            <a:srgbClr val="A56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5944" y="317296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What makes them 'window'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4736" y="3703320"/>
            <a:ext cx="34594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rgbClr val="4E3B30"/>
                </a:solidFill>
                <a:latin typeface="+mn-lt"/>
              </a:rPr>
              <a:t>Paired with OVER(), they compute totals, averages, or counts across a window of rows, without collapsing the result set.</a:t>
            </a:r>
          </a:p>
        </p:txBody>
      </p:sp>
      <p:sp>
        <p:nvSpPr>
          <p:cNvPr id="10" name="Oval 9"/>
          <p:cNvSpPr/>
          <p:nvPr/>
        </p:nvSpPr>
        <p:spPr>
          <a:xfrm>
            <a:off x="8144256" y="3200400"/>
            <a:ext cx="384048" cy="384048"/>
          </a:xfrm>
          <a:prstGeom prst="ellipse">
            <a:avLst/>
          </a:prstGeom>
          <a:solidFill>
            <a:srgbClr val="B5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5464" y="317296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E3B30"/>
                </a:solidFill>
                <a:latin typeface="+mn-lt"/>
              </a:rPr>
              <a:t>Common 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4256" y="3703320"/>
            <a:ext cx="34594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Running totals, a category's average shown next to each product, or a percentage of a group total.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AGGREGATE WINDOW FUNCTIONS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SUM() &amp; AVG()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5216" y="2148840"/>
            <a:ext cx="11018520" cy="1033272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SELECT order_date, order_amount,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SUM(order_amount) OVER (ORDER BY order_date) AS running_total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FROM orders;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622510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A5644E"/>
                </a:solidFill>
                <a:latin typeface="+mn-lt"/>
              </a:rPr>
              <a:t>SUM() — running total of sales, ordered by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3685032"/>
            <a:ext cx="11018520" cy="1033272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SELECT product_name, category, list_price,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AVG(list_price) OVER (PARTITION BY category) AS category_avg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FROM products;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364992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A5644E"/>
                </a:solidFill>
                <a:latin typeface="+mn-lt"/>
              </a:rPr>
              <a:t>AVG() — average price within each product category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AGGREGATE WINDOW FUNCTIONS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COUNT(), MAX() &amp; MIN()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All three follow the same pattern — the aggregate is computed over the window, but every row of detail is preserved.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527048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SELECT product_name, category, list_price,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COUNT(*) OVER (PARTITION BY category) AS products_in_category,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MAX(list_price) OVER (PARTITION BY category) AS highest_price,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MIN(list_price) OVER (PARTITION BY category) AS lowest_price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FROM products;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CATEGORY 2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Ranking Window Functions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2446020"/>
            <a:ext cx="384048" cy="384048"/>
          </a:xfrm>
          <a:prstGeom prst="ellipse">
            <a:avLst/>
          </a:prstGeom>
          <a:solidFill>
            <a:srgbClr val="C17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" y="241858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RANK()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9489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Assigns ranks to rows, skipping rank numbers after a tie.</a:t>
            </a:r>
          </a:p>
        </p:txBody>
      </p:sp>
      <p:sp>
        <p:nvSpPr>
          <p:cNvPr id="6" name="Oval 5"/>
          <p:cNvSpPr/>
          <p:nvPr/>
        </p:nvSpPr>
        <p:spPr>
          <a:xfrm>
            <a:off x="6254496" y="2446020"/>
            <a:ext cx="384048" cy="384048"/>
          </a:xfrm>
          <a:prstGeom prst="ellipse">
            <a:avLst/>
          </a:prstGeom>
          <a:solidFill>
            <a:srgbClr val="A56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5704" y="241858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DENSE_RANK()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9489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rgbClr val="4E3B30"/>
                </a:solidFill>
                <a:latin typeface="+mn-lt"/>
              </a:rPr>
              <a:t>Assigns ranks to rows without skipping numbers after a tie.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4183380"/>
            <a:ext cx="384048" cy="384048"/>
          </a:xfrm>
          <a:prstGeom prst="ellipse">
            <a:avLst/>
          </a:prstGeom>
          <a:solidFill>
            <a:srgbClr val="B5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415594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ROW_NUMBER()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68630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rgbClr val="4E3B30"/>
                </a:solidFill>
                <a:latin typeface="+mn-lt"/>
              </a:rPr>
              <a:t>Assigns a unique, ever-increasing number to each row — never repeats.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4183380"/>
            <a:ext cx="384048" cy="384048"/>
          </a:xfrm>
          <a:prstGeom prst="ellipse">
            <a:avLst/>
          </a:prstGeom>
          <a:solidFill>
            <a:srgbClr val="C39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5704" y="415594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E3B30"/>
                </a:solidFill>
                <a:latin typeface="+mn-lt"/>
              </a:rPr>
              <a:t>PERCENT_RANK()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468630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Shows a row's relative rank as a percentage, between 0 and 1.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ORDERING ROWS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RANK(), DENSE_RANK() &amp; ROW_NUMBER()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All three number rows in order — they differ only in how they handle 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527048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SELECT name, score,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ROW_NUMBER() OVER (ORDER BY score DESC) AS row_num,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RANK()       OVER (ORDER BY score DESC) AS rank_num,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DENSE_RANK() OVER (ORDER BY score DESC) AS dense_rank_num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FROM scores;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313" y="569070"/>
            <a:ext cx="10515600" cy="1115434"/>
          </a:xfrm>
        </p:spPr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SAME DATA, THREE ANSWERS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How Ties Are Handled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2011680"/>
          <a:ext cx="10058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 marL="73152" marR="73152" anchor="ctr">
                    <a:solidFill>
                      <a:srgbClr val="660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+mn-lt"/>
                        </a:rPr>
                        <a:t>Score</a:t>
                      </a:r>
                    </a:p>
                  </a:txBody>
                  <a:tcPr marL="73152" marR="73152" anchor="ctr">
                    <a:solidFill>
                      <a:srgbClr val="660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+mn-lt"/>
                        </a:rPr>
                        <a:t>ROW_NUMBER()</a:t>
                      </a:r>
                    </a:p>
                  </a:txBody>
                  <a:tcPr marL="73152" marR="73152" anchor="ctr">
                    <a:solidFill>
                      <a:srgbClr val="660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+mn-lt"/>
                        </a:rPr>
                        <a:t>RANK()</a:t>
                      </a:r>
                    </a:p>
                  </a:txBody>
                  <a:tcPr marL="73152" marR="73152" anchor="ctr">
                    <a:solidFill>
                      <a:srgbClr val="660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+mn-lt"/>
                        </a:rPr>
                        <a:t>DENSE_RANK()</a:t>
                      </a:r>
                    </a:p>
                  </a:txBody>
                  <a:tcPr marL="73152" marR="73152" anchor="ctr">
                    <a:solidFill>
                      <a:srgbClr val="660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Alice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95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Bob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Carol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90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solidFill>
                      <a:srgbClr val="FBE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Dave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E3B3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>
                          <a:solidFill>
                            <a:srgbClr val="4E3B3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RELATIVE STANDING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PERCENT_RANK()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PERCENT_RANK calculates (rank - 1) / (total rows - 1), giving each row's position as a percentage. The top row is always 0; the bottom row is always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033272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SELECT name, score,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PERCENT_RANK() OVER (ORDER BY score DESC) AS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pct_rank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FROM scores;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3685032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 dirty="0">
                <a:solidFill>
                  <a:srgbClr val="A5644E"/>
                </a:solidFill>
                <a:latin typeface="+mn-lt"/>
              </a:rPr>
              <a:t>A </a:t>
            </a:r>
            <a:r>
              <a:rPr sz="1250" b="0" i="1" dirty="0" err="1">
                <a:solidFill>
                  <a:srgbClr val="A5644E"/>
                </a:solidFill>
                <a:latin typeface="+mn-lt"/>
              </a:rPr>
              <a:t>pct_rank</a:t>
            </a:r>
            <a:r>
              <a:rPr sz="1250" b="0" i="1" dirty="0">
                <a:solidFill>
                  <a:srgbClr val="A5644E"/>
                </a:solidFill>
                <a:latin typeface="+mn-lt"/>
              </a:rPr>
              <a:t> of 0.25 means that row scores better than 75% of the group.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CUMULATIVE STANDING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CUME_DIST()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223" y="1622510"/>
            <a:ext cx="110185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CUME_DIST returns the proportion of rows with a value less than or equal to the current row's — always a number between 0 (exclusive) and 1.</a:t>
            </a:r>
            <a:endParaRPr lang="en-US" sz="1450" b="0" i="0" dirty="0">
              <a:solidFill>
                <a:srgbClr val="4E3B30"/>
              </a:solidFill>
              <a:latin typeface="+mn-lt"/>
            </a:endParaRPr>
          </a:p>
          <a:p>
            <a:r>
              <a:rPr lang="en-NG" sz="1450" dirty="0">
                <a:solidFill>
                  <a:srgbClr val="4E3B30"/>
                </a:solidFill>
              </a:rPr>
              <a:t>CUME_DIST = Number of rows ≤ current row / Total number of rows</a:t>
            </a:r>
          </a:p>
          <a:p>
            <a:endParaRPr sz="1450" b="0" i="0" dirty="0">
              <a:solidFill>
                <a:srgbClr val="4E3B30"/>
              </a:solidFill>
              <a:latin typeface="+mn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033272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SELECT name, score,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CUME_DIST() OVER (ORDER BY score) AS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cume_dist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FROM scores;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3685032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 dirty="0">
                <a:solidFill>
                  <a:srgbClr val="A5644E"/>
                </a:solidFill>
                <a:latin typeface="+mn-lt"/>
              </a:rPr>
              <a:t>A CUME_DIST of 0.8 means 80% of rows score at or below this 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DABD8-1254-73F5-F1AC-8B3AB208EB02}"/>
              </a:ext>
            </a:extLst>
          </p:cNvPr>
          <p:cNvSpPr txBox="1"/>
          <p:nvPr/>
        </p:nvSpPr>
        <p:spPr>
          <a:xfrm>
            <a:off x="3863108" y="4258144"/>
            <a:ext cx="239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G" b="1" i="1" dirty="0">
                <a:solidFill>
                  <a:srgbClr val="A5644E"/>
                </a:solidFill>
              </a:rPr>
              <a:t>The BIG difference</a:t>
            </a:r>
            <a:endParaRPr lang="en-NG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6C6AC9-177B-D9E1-9A71-3F1CC3BEA23F}"/>
              </a:ext>
            </a:extLst>
          </p:cNvPr>
          <p:cNvSpPr txBox="1"/>
          <p:nvPr/>
        </p:nvSpPr>
        <p:spPr>
          <a:xfrm>
            <a:off x="585216" y="4743389"/>
            <a:ext cx="274692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NG" sz="1250" b="1" i="1" dirty="0">
                <a:solidFill>
                  <a:srgbClr val="A5644E"/>
                </a:solidFill>
              </a:rPr>
              <a:t>PERCENT_RANK()</a:t>
            </a:r>
          </a:p>
          <a:p>
            <a:pPr>
              <a:buNone/>
            </a:pPr>
            <a:endParaRPr lang="en-NG" sz="1250" i="1" dirty="0">
              <a:solidFill>
                <a:srgbClr val="A5644E"/>
              </a:solidFill>
            </a:endParaRPr>
          </a:p>
          <a:p>
            <a:pPr>
              <a:buNone/>
            </a:pPr>
            <a:r>
              <a:rPr lang="en-NG" sz="1250" i="1" dirty="0">
                <a:solidFill>
                  <a:srgbClr val="A5644E"/>
                </a:solidFill>
              </a:rPr>
              <a:t>What is my position in the ranking?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84A79-8C9B-4214-260B-37A30EB3729B}"/>
              </a:ext>
            </a:extLst>
          </p:cNvPr>
          <p:cNvSpPr txBox="1"/>
          <p:nvPr/>
        </p:nvSpPr>
        <p:spPr>
          <a:xfrm>
            <a:off x="5087965" y="4793061"/>
            <a:ext cx="6094708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G" sz="1250" b="1" i="1" dirty="0">
                <a:solidFill>
                  <a:srgbClr val="A5644E"/>
                </a:solidFill>
              </a:rPr>
              <a:t>CUME_DIST()</a:t>
            </a:r>
          </a:p>
          <a:p>
            <a:r>
              <a:rPr lang="en-NG" sz="1250" i="1" dirty="0">
                <a:solidFill>
                  <a:srgbClr val="A5644E"/>
                </a:solidFill>
              </a:rPr>
              <a:t>What percentage of the data is at or below me?</a:t>
            </a:r>
            <a:endParaRPr lang="en-US" sz="1250" i="1" dirty="0">
              <a:solidFill>
                <a:srgbClr val="A5644E"/>
              </a:solidFill>
            </a:endParaRPr>
          </a:p>
          <a:p>
            <a:r>
              <a:rPr lang="en-NG" sz="1400" b="1" dirty="0"/>
              <a:t>proportion of rows reached</a:t>
            </a:r>
            <a:r>
              <a:rPr lang="en-NG" sz="1400" dirty="0"/>
              <a:t>.</a:t>
            </a:r>
          </a:p>
          <a:p>
            <a:endParaRPr lang="en-NG" sz="1250" i="1" dirty="0">
              <a:solidFill>
                <a:srgbClr val="A564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126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7" grpId="0"/>
      <p:bldP spid="9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THE BUILDING BLOCKS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The OVER() Clause &amp; PARTITION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OVER() is what turns an ordinary function into a window function. PARTITION BY splits rows into independent groups the calculation restarts for</a:t>
            </a:r>
            <a:r>
              <a:rPr lang="en-US" sz="1450" b="0" i="0" dirty="0">
                <a:solidFill>
                  <a:srgbClr val="4E3B30"/>
                </a:solidFill>
                <a:latin typeface="+mn-lt"/>
              </a:rPr>
              <a:t> each group. Without</a:t>
            </a:r>
            <a:r>
              <a:rPr sz="1450" b="0" i="0" dirty="0">
                <a:solidFill>
                  <a:srgbClr val="4E3B30"/>
                </a:solidFill>
                <a:latin typeface="+mn-lt"/>
              </a:rPr>
              <a:t> it, the whole result set is one window.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740" y="2445632"/>
            <a:ext cx="11018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1">
                <a:solidFill>
                  <a:srgbClr val="A5644E"/>
                </a:solidFill>
                <a:latin typeface="+mn-lt"/>
              </a:rPr>
              <a:t>Rank employees by salary, separately within each department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880360"/>
            <a:ext cx="11018520" cy="1773936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SELECT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employee_name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 department, salary,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RANK() OVER (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PARTITION BY department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ORDER BY salary DESC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) AS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dept_rank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FROM employees;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4837176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 dirty="0">
                <a:solidFill>
                  <a:srgbClr val="A5644E"/>
                </a:solidFill>
                <a:latin typeface="+mn-lt"/>
              </a:rPr>
              <a:t>PARTITION BY department means the ranking restarts at 1 for every new department.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DEFINING THE WINDOW'S EDGES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Frame Clause: UNBOUNDED PRECEDING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A frame clause narrows the window further, row by row. ROWS BETWEEN UNBOUNDED PRECEDING AND CURRENT ROW says: 'everything from the very first row up to the current one' — the classic running-total frame.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773936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SELECT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order_date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order_amount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SUM(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order_amount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) OVER (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ORDER BY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order_date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ROWS BETWEEN UNBOUNDED PRECEDING AND CURRENT ROW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) AS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running_total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FROM orders;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4425696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A5644E"/>
                </a:solidFill>
                <a:latin typeface="+mn-lt"/>
              </a:rPr>
              <a:t>This is actually the default frame whenever ORDER BY is used without an explicit frame clause.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DEFINING THE WINDOW'S EDGES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Frame Clause: Custom ROWS BETWEEN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ROWS BETWEEN </a:t>
            </a:r>
            <a:r>
              <a:rPr sz="1450" b="0" i="0" dirty="0" err="1">
                <a:solidFill>
                  <a:srgbClr val="4E3B30"/>
                </a:solidFill>
                <a:latin typeface="+mn-lt"/>
              </a:rPr>
              <a:t>lower_bound</a:t>
            </a:r>
            <a:r>
              <a:rPr sz="1450" b="0" i="0" dirty="0">
                <a:solidFill>
                  <a:srgbClr val="4E3B30"/>
                </a:solidFill>
                <a:latin typeface="+mn-lt"/>
              </a:rPr>
              <a:t> AND </a:t>
            </a:r>
            <a:r>
              <a:rPr sz="1450" b="0" i="0" dirty="0" err="1">
                <a:solidFill>
                  <a:srgbClr val="4E3B30"/>
                </a:solidFill>
                <a:latin typeface="+mn-lt"/>
              </a:rPr>
              <a:t>upper_bound</a:t>
            </a:r>
            <a:r>
              <a:rPr sz="1450" b="0" i="0" dirty="0">
                <a:solidFill>
                  <a:srgbClr val="4E3B30"/>
                </a:solidFill>
                <a:latin typeface="+mn-lt"/>
              </a:rPr>
              <a:t> defines a custom frame that moves with the current row — useful for moving averages and other fixed-size windows.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2468880"/>
            <a:ext cx="11018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1" dirty="0">
                <a:solidFill>
                  <a:srgbClr val="A5644E"/>
                </a:solidFill>
                <a:latin typeface="+mn-lt"/>
              </a:rPr>
              <a:t>3-row moving average: 1 row before, current row, 1 row after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880360"/>
            <a:ext cx="11018520" cy="1773936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SELECT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order_date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 revenue,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AVG(revenue) OVER (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ORDER BY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order_date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ROWS BETWEEN 1 PRECEDING AND 1 FOLLOWING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) AS moving_avg_3day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FROM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daily_sales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>
                <a:solidFill>
                  <a:srgbClr val="A5644E"/>
                </a:solidFill>
                <a:latin typeface="+mn-lt"/>
              </a:rPr>
              <a:t>DEFINING THE WINDOW'S EDGES</a:t>
            </a:r>
          </a:p>
          <a:p>
            <a:pPr algn="l">
              <a:spcBef>
                <a:spcPts val="400"/>
              </a:spcBef>
            </a:pPr>
            <a:r>
              <a:rPr sz="2800" b="1">
                <a:solidFill>
                  <a:srgbClr val="C17529"/>
                </a:solidFill>
                <a:latin typeface="+mj-lt"/>
              </a:rPr>
              <a:t>Frame Clause: RANGE BETWEEN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>
                <a:solidFill>
                  <a:srgbClr val="4E3B30"/>
                </a:solidFill>
                <a:latin typeface="+mn-lt"/>
              </a:rPr>
              <a:t>RANGE BETWEEN lower_bound AND upper_bound works like ROWS, but groups by the value in the ORDER BY column rather than physical row position — rows with an equal value are treated as part of the same point in the frame.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773936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SELECT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order_date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order_amount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SUM(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order_amount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) OVER (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ORDER BY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order_date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RANGE BETWEEN UNBOUNDED PRECEDING AND CURRENT ROW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) AS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running_total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FROM orders;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4425696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A5644E"/>
                </a:solidFill>
                <a:latin typeface="+mn-lt"/>
              </a:rPr>
              <a:t>ROWS counts physical rows; RANGE counts logical values — they can give different results when the ORDER BY column has duplicates.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CATEGORY 3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Value Window Functions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2446020"/>
            <a:ext cx="384048" cy="384048"/>
          </a:xfrm>
          <a:prstGeom prst="ellipse">
            <a:avLst/>
          </a:prstGeom>
          <a:solidFill>
            <a:srgbClr val="C17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" y="241858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LAG()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948940"/>
            <a:ext cx="3459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Retrieves a value from a row before the current row.</a:t>
            </a:r>
          </a:p>
        </p:txBody>
      </p:sp>
      <p:sp>
        <p:nvSpPr>
          <p:cNvPr id="6" name="Oval 5"/>
          <p:cNvSpPr/>
          <p:nvPr/>
        </p:nvSpPr>
        <p:spPr>
          <a:xfrm>
            <a:off x="4364736" y="2446020"/>
            <a:ext cx="384048" cy="384048"/>
          </a:xfrm>
          <a:prstGeom prst="ellipse">
            <a:avLst/>
          </a:prstGeom>
          <a:solidFill>
            <a:srgbClr val="A56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85944" y="241858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E3B30"/>
                </a:solidFill>
                <a:latin typeface="+mn-lt"/>
              </a:rPr>
              <a:t>LEAD()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4736" y="2948940"/>
            <a:ext cx="3459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Retrieves a value from a row after the current row.</a:t>
            </a:r>
          </a:p>
        </p:txBody>
      </p:sp>
      <p:sp>
        <p:nvSpPr>
          <p:cNvPr id="9" name="Oval 8"/>
          <p:cNvSpPr/>
          <p:nvPr/>
        </p:nvSpPr>
        <p:spPr>
          <a:xfrm>
            <a:off x="8144256" y="2446020"/>
            <a:ext cx="384048" cy="384048"/>
          </a:xfrm>
          <a:prstGeom prst="ellipse">
            <a:avLst/>
          </a:prstGeom>
          <a:solidFill>
            <a:srgbClr val="B5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5464" y="241858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E3B30"/>
                </a:solidFill>
                <a:latin typeface="+mn-lt"/>
              </a:rPr>
              <a:t>FIRST_VALUE()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4256" y="2948940"/>
            <a:ext cx="3459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Returns the first value in an ordered partition.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4183380"/>
            <a:ext cx="384048" cy="384048"/>
          </a:xfrm>
          <a:prstGeom prst="ellipse">
            <a:avLst/>
          </a:prstGeom>
          <a:solidFill>
            <a:srgbClr val="C39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415594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E3B30"/>
                </a:solidFill>
                <a:latin typeface="+mn-lt"/>
              </a:rPr>
              <a:t>LAST_VALUE()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4686300"/>
            <a:ext cx="3459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Returns the last value in an ordered partition.</a:t>
            </a:r>
          </a:p>
        </p:txBody>
      </p:sp>
      <p:sp>
        <p:nvSpPr>
          <p:cNvPr id="15" name="Oval 14"/>
          <p:cNvSpPr/>
          <p:nvPr/>
        </p:nvSpPr>
        <p:spPr>
          <a:xfrm>
            <a:off x="4364736" y="4183380"/>
            <a:ext cx="384048" cy="384048"/>
          </a:xfrm>
          <a:prstGeom prst="ellipse">
            <a:avLst/>
          </a:prstGeom>
          <a:solidFill>
            <a:srgbClr val="A1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+mn-lt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5944" y="415594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NTH_VALUE()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4736" y="4686300"/>
            <a:ext cx="3459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4E3B30"/>
                </a:solidFill>
                <a:latin typeface="+mn-lt"/>
              </a:rPr>
              <a:t>Returns the value of the nth row in the ordered set.</a:t>
            </a:r>
          </a:p>
        </p:txBody>
      </p:sp>
      <p:sp>
        <p:nvSpPr>
          <p:cNvPr id="18" name="Oval 17"/>
          <p:cNvSpPr/>
          <p:nvPr/>
        </p:nvSpPr>
        <p:spPr>
          <a:xfrm>
            <a:off x="8144256" y="4183380"/>
            <a:ext cx="384048" cy="384048"/>
          </a:xfrm>
          <a:prstGeom prst="ellipse">
            <a:avLst/>
          </a:prstGeom>
          <a:solidFill>
            <a:srgbClr val="C17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+mn-lt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5464" y="4155948"/>
            <a:ext cx="2938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4E3B30"/>
                </a:solidFill>
                <a:latin typeface="+mn-lt"/>
              </a:rPr>
              <a:t>CUME_DIST()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4256" y="4686300"/>
            <a:ext cx="3459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rgbClr val="4E3B30"/>
                </a:solidFill>
                <a:latin typeface="+mn-lt"/>
              </a:rPr>
              <a:t>Returns the cumulative distribution — the share of rows at or below this one.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COMPARING NEIGHBORING ROWS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LAG() &amp; LEAD()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LAG looks back at a previous row; LEAD looks ahead to a following row — both within the ordering you specify. Useful for day-over-day or month-over-month comparisons.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280160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SELECT order_date, revenue,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LAG(revenue, 1)  OVER (ORDER BY order_date) AS prev_day_revenue,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LEAD(revenue, 1) OVER (ORDER BY order_date) AS next_day_revenue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FROM daily_sales;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3931920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 dirty="0">
                <a:solidFill>
                  <a:srgbClr val="A5644E"/>
                </a:solidFill>
                <a:latin typeface="+mn-lt"/>
              </a:rPr>
              <a:t>The second argument (1) sets how many rows back or forward to look — it defaults to 1 if omitted.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THE EDGES OF A PARTITION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FIRST_VALUE() &amp; LAST_VALUE()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 dirty="0">
                <a:solidFill>
                  <a:srgbClr val="4E3B30"/>
                </a:solidFill>
                <a:latin typeface="+mn-lt"/>
              </a:rPr>
              <a:t>These return the first or last value in an ordered partition — handy for comparing every row to its group's starting or ending point.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2514600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SELECT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employee_name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 department, salary,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FIRST_VALUE(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employee_name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) OVER (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PARTITION BY department ORDER BY salary DESC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) AS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top_earner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LAST_VALUE(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employee_name</a:t>
            </a:r>
            <a:r>
              <a:rPr sz="1300" b="0" i="0" dirty="0">
                <a:solidFill>
                  <a:srgbClr val="FBEEC9"/>
                </a:solidFill>
                <a:latin typeface="Courier New"/>
              </a:rPr>
              <a:t>) OVER (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PARTITION BY department ORDER BY salary DESC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  ROWS BETWEEN UNBOUNDED PRECEDING AND UNBOUNDED FOLLOWING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  ) AS </a:t>
            </a:r>
            <a:r>
              <a:rPr sz="1300" b="0" i="0" dirty="0" err="1">
                <a:solidFill>
                  <a:srgbClr val="FBEEC9"/>
                </a:solidFill>
                <a:latin typeface="Courier New"/>
              </a:rPr>
              <a:t>lowest_earner</a:t>
            </a:r>
            <a:endParaRPr sz="1300" b="0" i="0" dirty="0">
              <a:solidFill>
                <a:srgbClr val="FBEEC9"/>
              </a:solidFill>
              <a:latin typeface="Courier New"/>
            </a:endParaRP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FBEEC9"/>
                </a:solidFill>
                <a:latin typeface="Courier New"/>
              </a:rPr>
              <a:t>FROM employees;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166360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A5644E"/>
                </a:solidFill>
                <a:latin typeface="+mn-lt"/>
              </a:rPr>
              <a:t>LAST_VALUE needs an explicit full-partition frame — otherwise the default frame stops at the current row.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dirty="0">
                <a:solidFill>
                  <a:srgbClr val="A5644E"/>
                </a:solidFill>
                <a:latin typeface="+mn-lt"/>
              </a:rPr>
              <a:t>PICKING A SPECIFIC POSITION</a:t>
            </a:r>
          </a:p>
          <a:p>
            <a:pPr algn="l">
              <a:spcBef>
                <a:spcPts val="400"/>
              </a:spcBef>
            </a:pPr>
            <a:r>
              <a:rPr sz="2800" b="1" dirty="0">
                <a:solidFill>
                  <a:srgbClr val="C17529"/>
                </a:solidFill>
                <a:latin typeface="+mj-lt"/>
              </a:rPr>
              <a:t>NTH_VALUE()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78308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>
                <a:solidFill>
                  <a:srgbClr val="4E3B30"/>
                </a:solidFill>
                <a:latin typeface="+mn-lt"/>
              </a:rPr>
              <a:t>NTH_VALUE returns the value from a specific position within the ordered window — for example, the second-highest earner in each department.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468880"/>
            <a:ext cx="11018520" cy="1773936"/>
          </a:xfrm>
          <a:prstGeom prst="roundRect">
            <a:avLst>
              <a:gd name="adj" fmla="val 6000"/>
            </a:avLst>
          </a:prstGeom>
          <a:solidFill>
            <a:srgbClr val="4E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ctr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SELECT employee_name, department, salary,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NTH_VALUE(employee_name, 2) OVER (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  PARTITION BY department ORDER BY salary DESC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  ROWS BETWEEN UNBOUNDED PRECEDING AND UNBOUNDED FOLLOWING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  ) AS second_highest_earner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BEEC9"/>
                </a:solidFill>
                <a:latin typeface="Courier New"/>
              </a:rPr>
              <a:t>FROM employees;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B471-918D-4EF6-8A0E-9648E36B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Rules – what we should know</a:t>
            </a:r>
            <a:endParaRPr lang="en-NG" sz="3200" dirty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F6DE381-A4E9-BC0E-2B5D-30FBAC300CD1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US" dirty="0"/>
              <a:t>Window functions can be used ONLY in SELECT and ORDER BY Clauses</a:t>
            </a:r>
          </a:p>
          <a:p>
            <a:r>
              <a:rPr lang="en-US" dirty="0"/>
              <a:t>WINDOW Functions can't be used to filter Data</a:t>
            </a:r>
          </a:p>
          <a:p>
            <a:r>
              <a:rPr lang="en-US" dirty="0"/>
              <a:t>SQL executes window functions after the WHERE Clause</a:t>
            </a:r>
          </a:p>
          <a:p>
            <a:r>
              <a:rPr lang="en-US" dirty="0"/>
              <a:t>Nesting Window Functions is not allowed!</a:t>
            </a:r>
          </a:p>
          <a:p>
            <a:r>
              <a:rPr lang="en-US" dirty="0"/>
              <a:t>Window Function can be used together with GROUP BY</a:t>
            </a:r>
            <a:endParaRPr lang="en-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C0FE2-56CA-0BA4-BCBE-E031E19E1D6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BF893-5C50-7534-8874-FA511496562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7171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图片占位符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图片占位符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3093990"/>
            <a:ext cx="4969790" cy="1879791"/>
          </a:xfrm>
        </p:spPr>
        <p:txBody>
          <a:bodyPr/>
          <a:lstStyle/>
          <a:p>
            <a:r>
              <a:rPr lang="en-US" dirty="0"/>
              <a:t>Oyelaran Paul</a:t>
            </a:r>
          </a:p>
          <a:p>
            <a:pPr lvl="0"/>
            <a:r>
              <a:rPr lang="en-US" dirty="0"/>
              <a:t>Twitter: @iamtopinfiniti</a:t>
            </a:r>
          </a:p>
          <a:p>
            <a:pPr lvl="0"/>
            <a:r>
              <a:rPr lang="en-US" dirty="0" err="1"/>
              <a:t>Youtube</a:t>
            </a:r>
            <a:r>
              <a:rPr lang="en-US" dirty="0"/>
              <a:t>: </a:t>
            </a:r>
            <a:r>
              <a:rPr lang="en-US" dirty="0" err="1"/>
              <a:t>Analyticswithpaul</a:t>
            </a:r>
            <a:endParaRPr lang="en-US" dirty="0"/>
          </a:p>
          <a:p>
            <a:pPr lvl="0"/>
            <a:r>
              <a:rPr lang="en-US" dirty="0" err="1"/>
              <a:t>Linkedin</a:t>
            </a:r>
            <a:r>
              <a:rPr lang="en-US" dirty="0"/>
              <a:t>:</a:t>
            </a:r>
            <a:r>
              <a:rPr lang="en-NG" dirty="0"/>
              <a:t> www.linkedin.com/in/oyelaran-paul</a:t>
            </a:r>
            <a:endParaRPr lang="en-US" dirty="0"/>
          </a:p>
          <a:p>
            <a:endParaRPr lang="en-US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5" name="Picture Placeholder 4" descr="A couple of people wearing matching outfits&#10;&#10;Description automatically generated">
            <a:extLst>
              <a:ext uri="{FF2B5EF4-FFF2-40B4-BE49-F238E27FC236}">
                <a16:creationId xmlns:a16="http://schemas.microsoft.com/office/drawing/2014/main" id="{C907F501-9FFA-18BE-8C49-414DD2357D28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5"/>
          <a:srcRect t="6061" b="606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7664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DBCInstructorSlideMast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brown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  -  Repaired" id="{F4D8F3A2-3819-4CAC-8BAC-9E8BBAD4A637}" vid="{CA389334-ACAF-4043-8AF9-F8DF75AD8E01}"/>
    </a:ext>
  </a:extLst>
</a:theme>
</file>

<file path=ppt/theme/theme3.xml><?xml version="1.0" encoding="utf-8"?>
<a:theme xmlns:a="http://schemas.openxmlformats.org/drawingml/2006/main" name="1_DBCInstructorSlideMast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brown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  -  Repaired" id="{F4D8F3A2-3819-4CAC-8BAC-9E8BBAD4A637}" vid="{CA389334-ACAF-4043-8AF9-F8DF75AD8E01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F156100-9533-4411-B0C0-FA18F914F7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A4D1D3-B327-4D60-927D-26045FF4A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C81503-9DEF-42F3-A99B-D5E0223E195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e58707db-cea7-4907-92d1-cf323291762b}" enabled="1" method="Standard" siteId="{e11cbe9c-f680-44b9-9d42-d705f740b88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5317</TotalTime>
  <Words>2587</Words>
  <Application>Microsoft Office PowerPoint</Application>
  <PresentationFormat>Widescreen</PresentationFormat>
  <Paragraphs>327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51" baseType="lpstr">
      <vt:lpstr>等线</vt:lpstr>
      <vt:lpstr>Abadi</vt:lpstr>
      <vt:lpstr>Arial</vt:lpstr>
      <vt:lpstr>Bookman Old Style</vt:lpstr>
      <vt:lpstr>Bradley Hand ITC</vt:lpstr>
      <vt:lpstr>Calibri</vt:lpstr>
      <vt:lpstr>Courier New</vt:lpstr>
      <vt:lpstr>Franklin Gothic Demi</vt:lpstr>
      <vt:lpstr>Posterama Text Black</vt:lpstr>
      <vt:lpstr>Posterama Text SemiBold</vt:lpstr>
      <vt:lpstr>Segoe Print</vt:lpstr>
      <vt:lpstr>Segoe UI</vt:lpstr>
      <vt:lpstr>Segoe UI Light</vt:lpstr>
      <vt:lpstr>Univers 55</vt:lpstr>
      <vt:lpstr>Wingdings</vt:lpstr>
      <vt:lpstr>Office 主题​​</vt:lpstr>
      <vt:lpstr>DBCInstructorSlideMaster</vt:lpstr>
      <vt:lpstr>1_DBCInstructorSlideMaster</vt:lpstr>
      <vt:lpstr>Your Data Career Starts Here: Workshop 5.0 Kickoff</vt:lpstr>
      <vt:lpstr>Ground Rules</vt:lpstr>
      <vt:lpstr>Oyelaran Paul</vt:lpstr>
      <vt:lpstr>A BEGINNER'S COURSE Introduction to SQL JOIN &amp; Window Functions</vt:lpstr>
      <vt:lpstr>COMBINING TABLES SQL Joins: The Big Picture</vt:lpstr>
      <vt:lpstr>MATCHING ROWS ONLY INNER JOIN</vt:lpstr>
      <vt:lpstr>KEEPING UNMATCHED ROWS LEFT JOIN vs RIGHT JOIN</vt:lpstr>
      <vt:lpstr>KEEPING EVERYTHING FULL OUTER JOIN</vt:lpstr>
      <vt:lpstr>SET OPERATIONS UNION, UNION ALL &amp; INTERSECT</vt:lpstr>
      <vt:lpstr>SECTION 2 / 2 Window Functions in SQL Server</vt:lpstr>
      <vt:lpstr>GETTING STARTED What is a Window Function?</vt:lpstr>
      <vt:lpstr>Key Terms in Window Function</vt:lpstr>
      <vt:lpstr>A COMMON POINT OF CONFUSION Window Function vs. GROUP BY</vt:lpstr>
      <vt:lpstr>PowerPoint Presentation</vt:lpstr>
      <vt:lpstr>WINDOW FUNCTION CATEGORIES</vt:lpstr>
      <vt:lpstr>CATEGORY 1 Aggregate Window Functions</vt:lpstr>
      <vt:lpstr>AGGREGATE WINDOW FUNCTIONS SUM() &amp; AVG()</vt:lpstr>
      <vt:lpstr>AGGREGATE WINDOW FUNCTIONS COUNT(), MAX() &amp; MIN()</vt:lpstr>
      <vt:lpstr>CATEGORY 2 Ranking Window Functions</vt:lpstr>
      <vt:lpstr>ORDERING ROWS RANK(), DENSE_RANK() &amp; ROW_NUMBER()</vt:lpstr>
      <vt:lpstr>SAME DATA, THREE ANSWERS How Ties Are Handled</vt:lpstr>
      <vt:lpstr>RELATIVE STANDING PERCENT_RANK()</vt:lpstr>
      <vt:lpstr>CUMULATIVE STANDING CUME_DIST()</vt:lpstr>
      <vt:lpstr>THE BUILDING BLOCKS The OVER() Clause &amp; PARTITION BY</vt:lpstr>
      <vt:lpstr>DEFINING THE WINDOW'S EDGES Frame Clause: UNBOUNDED PRECEDING</vt:lpstr>
      <vt:lpstr>DEFINING THE WINDOW'S EDGES Frame Clause: Custom ROWS BETWEEN</vt:lpstr>
      <vt:lpstr>DEFINING THE WINDOW'S EDGES Frame Clause: RANGE BETWEEN</vt:lpstr>
      <vt:lpstr>CATEGORY 3 Value Window Functions</vt:lpstr>
      <vt:lpstr>COMPARING NEIGHBORING ROWS LAG() &amp; LEAD()</vt:lpstr>
      <vt:lpstr>THE EDGES OF A PARTITION FIRST_VALUE() &amp; LAST_VALUE()</vt:lpstr>
      <vt:lpstr>PICKING A SPECIFIC POSITION NTH_VALUE()</vt:lpstr>
      <vt:lpstr>Rules – what we should know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Workshop &amp; Getting Started with Analytics</dc:title>
  <dc:creator>Adewale Yusuf</dc:creator>
  <cp:lastModifiedBy>Oyelaran Temitope</cp:lastModifiedBy>
  <cp:revision>55</cp:revision>
  <dcterms:created xsi:type="dcterms:W3CDTF">2023-09-01T11:54:27Z</dcterms:created>
  <dcterms:modified xsi:type="dcterms:W3CDTF">2026-10-10T19:09:05Z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2024-07-19T17:09:25Z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636dec90-9c29-47e4-a3ab-26b495ed7a67</vt:lpwstr>
  </property>
  <property fmtid="{D5CDD505-2E9C-101B-9397-08002B2CF9AE}" pid="8" name="MSIP_Label_defa4170-0d19-0005-0004-bc88714345d2_ActionId">
    <vt:lpwstr>80064dee-01d4-4970-8bb0-bd06e6286079</vt:lpwstr>
  </property>
  <property fmtid="{D5CDD505-2E9C-101B-9397-08002B2CF9AE}" pid="9" name="MSIP_Label_defa4170-0d19-0005-0004-bc88714345d2_ContentBits">
    <vt:lpwstr>0</vt:lpwstr>
  </property>
</Properties>
</file>